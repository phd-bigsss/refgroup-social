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bookmarkIdSeed="2">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744" y="120"/>
      </p:cViewPr>
      <p:guideLst>
        <p:guide orient="horz" pos="288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o César Iturra Sanhueza" userId="e2de3052-3501-452a-9806-eb4e3c41687c" providerId="ADAL" clId="{9573727F-4811-45D9-A52A-5B3A3BCA0CD9}"/>
    <pc:docChg chg="modSld">
      <pc:chgData name="Julio César Iturra Sanhueza" userId="e2de3052-3501-452a-9806-eb4e3c41687c" providerId="ADAL" clId="{9573727F-4811-45D9-A52A-5B3A3BCA0CD9}" dt="2025-12-04T02:17:45.036" v="15" actId="1035"/>
      <pc:docMkLst>
        <pc:docMk/>
      </pc:docMkLst>
      <pc:sldChg chg="modSp mod">
        <pc:chgData name="Julio César Iturra Sanhueza" userId="e2de3052-3501-452a-9806-eb4e3c41687c" providerId="ADAL" clId="{9573727F-4811-45D9-A52A-5B3A3BCA0CD9}" dt="2025-12-04T02:17:45.036" v="15" actId="1035"/>
        <pc:sldMkLst>
          <pc:docMk/>
          <pc:sldMk cId="0" sldId="261"/>
        </pc:sldMkLst>
        <pc:picChg chg="mod">
          <ac:chgData name="Julio César Iturra Sanhueza" userId="e2de3052-3501-452a-9806-eb4e3c41687c" providerId="ADAL" clId="{9573727F-4811-45D9-A52A-5B3A3BCA0CD9}" dt="2025-12-03T18:34:25.347" v="0" actId="1038"/>
          <ac:picMkLst>
            <pc:docMk/>
            <pc:sldMk cId="0" sldId="261"/>
            <ac:picMk id="100" creationId="{00000000-0000-0000-0000-000000000000}"/>
          </ac:picMkLst>
        </pc:picChg>
        <pc:picChg chg="mod">
          <ac:chgData name="Julio César Iturra Sanhueza" userId="e2de3052-3501-452a-9806-eb4e3c41687c" providerId="ADAL" clId="{9573727F-4811-45D9-A52A-5B3A3BCA0CD9}" dt="2025-12-04T02:17:45.036" v="15" actId="1035"/>
          <ac:picMkLst>
            <pc:docMk/>
            <pc:sldMk cId="0" sldId="261"/>
            <ac:picMk id="103" creationId="{00000000-0000-0000-0000-000000000000}"/>
          </ac:picMkLst>
        </pc:picChg>
      </pc:sldChg>
      <pc:sldChg chg="modSp mod">
        <pc:chgData name="Julio César Iturra Sanhueza" userId="e2de3052-3501-452a-9806-eb4e3c41687c" providerId="ADAL" clId="{9573727F-4811-45D9-A52A-5B3A3BCA0CD9}" dt="2025-12-03T19:03:20.386" v="12" actId="1038"/>
        <pc:sldMkLst>
          <pc:docMk/>
          <pc:sldMk cId="0" sldId="264"/>
        </pc:sldMkLst>
        <pc:picChg chg="mod">
          <ac:chgData name="Julio César Iturra Sanhueza" userId="e2de3052-3501-452a-9806-eb4e3c41687c" providerId="ADAL" clId="{9573727F-4811-45D9-A52A-5B3A3BCA0CD9}" dt="2025-12-03T19:03:20.386" v="12" actId="1038"/>
          <ac:picMkLst>
            <pc:docMk/>
            <pc:sldMk cId="0" sldId="264"/>
            <ac:picMk id="127" creationId="{00000000-0000-0000-0000-000000000000}"/>
          </ac:picMkLst>
        </pc:picChg>
      </pc:sldChg>
      <pc:sldChg chg="modSp mod">
        <pc:chgData name="Julio César Iturra Sanhueza" userId="e2de3052-3501-452a-9806-eb4e3c41687c" providerId="ADAL" clId="{9573727F-4811-45D9-A52A-5B3A3BCA0CD9}" dt="2025-12-04T01:16:12.871" v="13" actId="20577"/>
        <pc:sldMkLst>
          <pc:docMk/>
          <pc:sldMk cId="0" sldId="268"/>
        </pc:sldMkLst>
        <pc:spChg chg="mod">
          <ac:chgData name="Julio César Iturra Sanhueza" userId="e2de3052-3501-452a-9806-eb4e3c41687c" providerId="ADAL" clId="{9573727F-4811-45D9-A52A-5B3A3BCA0CD9}" dt="2025-12-04T01:16:12.871" v="13" actId="20577"/>
          <ac:spMkLst>
            <pc:docMk/>
            <pc:sldMk cId="0" sldId="268"/>
            <ac:spMk id="16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0c865d1a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0c865d1a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0c865d1a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0c865d1a1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0c865d1a1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0c865d1a1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549434489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54943448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0c865d1a12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0c865d1a12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4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400">
                <a:solidFill>
                  <a:srgbClr val="595959"/>
                </a:solidFill>
              </a:rPr>
              <a:t>- citizens from market dependency</a:t>
            </a:r>
            <a:endParaRPr sz="14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400">
                <a:solidFill>
                  <a:srgbClr val="595959"/>
                </a:solidFill>
              </a:rPr>
              <a:t>- rather focusing on the state than in market provision of welfare</a:t>
            </a:r>
            <a:endParaRPr sz="14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400">
                <a:solidFill>
                  <a:srgbClr val="595959"/>
                </a:solidFill>
              </a:rPr>
              <a:t>- a market is a ‘social structure for exchange of property rights, which enables people, firms and products to be evaluated and priced’ (Aspers 2006: 427)</a:t>
            </a:r>
            <a:endParaRPr sz="1400">
              <a:solidFill>
                <a:srgbClr val="595959"/>
              </a:solidFill>
            </a:endParaRPr>
          </a:p>
          <a:p>
            <a:pPr marL="457200" lvl="0" indent="-317500" algn="l" rtl="0">
              <a:lnSpc>
                <a:spcPct val="115000"/>
              </a:lnSpc>
              <a:spcBef>
                <a:spcPts val="1200"/>
              </a:spcBef>
              <a:spcAft>
                <a:spcPts val="0"/>
              </a:spcAft>
              <a:buClr>
                <a:srgbClr val="595959"/>
              </a:buClr>
              <a:buSzPts val="1400"/>
              <a:buChar char="-"/>
            </a:pPr>
            <a:r>
              <a:rPr lang="en" sz="1400">
                <a:solidFill>
                  <a:srgbClr val="595959"/>
                </a:solidFill>
              </a:rPr>
              <a:t>Commodification </a:t>
            </a:r>
            <a:endParaRPr sz="1400">
              <a:solidFill>
                <a:srgbClr val="595959"/>
              </a:solidFill>
            </a:endParaRPr>
          </a:p>
          <a:p>
            <a:pPr marL="457200" lvl="0" indent="-317500" algn="l" rtl="0">
              <a:lnSpc>
                <a:spcPct val="115000"/>
              </a:lnSpc>
              <a:spcBef>
                <a:spcPts val="0"/>
              </a:spcBef>
              <a:spcAft>
                <a:spcPts val="0"/>
              </a:spcAft>
              <a:buClr>
                <a:srgbClr val="595959"/>
              </a:buClr>
              <a:buSzPts val="1400"/>
              <a:buChar char="-"/>
            </a:pPr>
            <a:r>
              <a:rPr lang="en" sz="1400">
                <a:solidFill>
                  <a:srgbClr val="595959"/>
                </a:solidFill>
              </a:rPr>
              <a:t>Market conveys specific justice principle ‘market justice’ affording legitimacy to the allocation of goods and services on the bases of prices an ability to pay</a:t>
            </a:r>
            <a:br>
              <a:rPr lang="en" sz="1400">
                <a:solidFill>
                  <a:srgbClr val="595959"/>
                </a:solidFill>
              </a:rPr>
            </a:br>
            <a:endParaRPr sz="1400">
              <a:solidFill>
                <a:srgbClr val="595959"/>
              </a:solidFill>
            </a:endParaRPr>
          </a:p>
          <a:p>
            <a:pPr marL="457200" lvl="0" indent="-317500" algn="l" rtl="0">
              <a:lnSpc>
                <a:spcPct val="115000"/>
              </a:lnSpc>
              <a:spcBef>
                <a:spcPts val="0"/>
              </a:spcBef>
              <a:spcAft>
                <a:spcPts val="0"/>
              </a:spcAft>
              <a:buClr>
                <a:srgbClr val="595959"/>
              </a:buClr>
              <a:buSzPts val="1400"/>
              <a:buChar char="-"/>
            </a:pPr>
            <a:r>
              <a:rPr lang="en" sz="1400">
                <a:solidFill>
                  <a:srgbClr val="595959"/>
                </a:solidFill>
              </a:rPr>
              <a:t>Market mechanism in stratifying life chances and quality of life among the population</a:t>
            </a:r>
            <a:br>
              <a:rPr lang="en" sz="1400">
                <a:solidFill>
                  <a:srgbClr val="595959"/>
                </a:solidFill>
              </a:rPr>
            </a:br>
            <a:endParaRPr sz="1400">
              <a:solidFill>
                <a:srgbClr val="595959"/>
              </a:solidFill>
            </a:endParaRPr>
          </a:p>
          <a:p>
            <a:pPr marL="457200" lvl="0" indent="-317500" algn="l" rtl="0">
              <a:lnSpc>
                <a:spcPct val="115000"/>
              </a:lnSpc>
              <a:spcBef>
                <a:spcPts val="0"/>
              </a:spcBef>
              <a:spcAft>
                <a:spcPts val="0"/>
              </a:spcAft>
              <a:buClr>
                <a:srgbClr val="595959"/>
              </a:buClr>
              <a:buSzPts val="1400"/>
              <a:buChar char="-"/>
            </a:pPr>
            <a:r>
              <a:rPr lang="en" sz="1400">
                <a:solidFill>
                  <a:srgbClr val="595959"/>
                </a:solidFill>
              </a:rPr>
              <a:t>state-organized welfare can be understood as a political device for delimiting the relative scope and force of the market nexus in determining life chances and living conditions</a:t>
            </a:r>
            <a:endParaRPr sz="1400">
              <a:solidFill>
                <a:srgbClr val="595959"/>
              </a:solidFill>
            </a:endParaRPr>
          </a:p>
          <a:p>
            <a:pPr marL="457200" lvl="0" indent="-317500" algn="l" rtl="0">
              <a:lnSpc>
                <a:spcPct val="115000"/>
              </a:lnSpc>
              <a:spcBef>
                <a:spcPts val="0"/>
              </a:spcBef>
              <a:spcAft>
                <a:spcPts val="0"/>
              </a:spcAft>
              <a:buClr>
                <a:srgbClr val="595959"/>
              </a:buClr>
              <a:buSzPts val="1400"/>
              <a:buChar char="-"/>
            </a:pPr>
            <a:br>
              <a:rPr lang="en" sz="1400">
                <a:solidFill>
                  <a:srgbClr val="595959"/>
                </a:solidFill>
              </a:rPr>
            </a:br>
            <a:r>
              <a:rPr lang="en" sz="1400">
                <a:solidFill>
                  <a:srgbClr val="595959"/>
                </a:solidFill>
              </a:rPr>
              <a:t>state-led welfare policy can be understood as a ‘social investment’ that facilitates the functioning of a large-scale market economy</a:t>
            </a:r>
            <a:endParaRPr sz="1400">
              <a:solidFill>
                <a:srgbClr val="595959"/>
              </a:solidFill>
            </a:endParaRPr>
          </a:p>
          <a:p>
            <a:pPr marL="0" lvl="0" indent="0" algn="l" rtl="0">
              <a:lnSpc>
                <a:spcPct val="115000"/>
              </a:lnSpc>
              <a:spcBef>
                <a:spcPts val="1200"/>
              </a:spcBef>
              <a:spcAft>
                <a:spcPts val="1200"/>
              </a:spcAft>
              <a:buClr>
                <a:schemeClr val="dk1"/>
              </a:buClr>
              <a:buSzPts val="1100"/>
              <a:buFont typeface="Arial"/>
              <a:buNone/>
            </a:pPr>
            <a:r>
              <a:rPr lang="en" sz="1400">
                <a:solidFill>
                  <a:srgbClr val="595959"/>
                </a:solidFill>
              </a:rPr>
              <a:t>“Since the labour market is the main arena structuring rewards and opportunities in market capitalist society, conflicts rooted in production and the labour market have been given primary attention” (Lindh, 2015)</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0c865d1a1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0c865d1a1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In the OECD context Chile is:</a:t>
            </a:r>
            <a:endParaRPr sz="1600"/>
          </a:p>
          <a:p>
            <a:pPr marL="914400" lvl="1" indent="-330200" algn="l" rtl="0">
              <a:spcBef>
                <a:spcPts val="0"/>
              </a:spcBef>
              <a:spcAft>
                <a:spcPts val="0"/>
              </a:spcAft>
              <a:buSzPts val="1600"/>
              <a:buChar char="-"/>
            </a:pPr>
            <a:r>
              <a:rPr lang="en" sz="1600"/>
              <a:t>First place in terms of private spending in education, in this case private sources are households or private entities </a:t>
            </a:r>
            <a:endParaRPr sz="1600"/>
          </a:p>
          <a:p>
            <a:pPr marL="914400" lvl="1" indent="-330200" algn="l" rtl="0">
              <a:spcBef>
                <a:spcPts val="0"/>
              </a:spcBef>
              <a:spcAft>
                <a:spcPts val="0"/>
              </a:spcAft>
              <a:buSzPts val="1600"/>
              <a:buChar char="-"/>
            </a:pPr>
            <a:r>
              <a:rPr lang="en" sz="1600"/>
              <a:t>Similar in </a:t>
            </a:r>
            <a:r>
              <a:rPr lang="en" sz="1600" b="1"/>
              <a:t>out-of-pocket </a:t>
            </a:r>
            <a:r>
              <a:rPr lang="en" sz="1600"/>
              <a:t>health expenditure, what means the share of the medical service that IS NOT covered by insurance </a:t>
            </a:r>
            <a:endParaRPr sz="1600"/>
          </a:p>
          <a:p>
            <a:pPr marL="914400" lvl="1" indent="-330200" algn="l" rtl="0">
              <a:spcBef>
                <a:spcPts val="0"/>
              </a:spcBef>
              <a:spcAft>
                <a:spcPts val="0"/>
              </a:spcAft>
              <a:buSzPts val="1600"/>
              <a:buChar char="-"/>
            </a:pPr>
            <a:r>
              <a:rPr lang="en" sz="1600"/>
              <a:t>Regarding the pension system, Chile is known for having a “</a:t>
            </a:r>
            <a:r>
              <a:rPr lang="en" sz="1600" b="1"/>
              <a:t>fully funded capitalization system run by private sector pension funds</a:t>
            </a:r>
            <a:r>
              <a:rPr lang="en" sz="1600"/>
              <a:t>”. The red dots are private and the blue dot are public.</a:t>
            </a:r>
            <a:endParaRPr sz="1600"/>
          </a:p>
          <a:p>
            <a:pPr marL="0" lvl="0" indent="0" algn="l" rtl="0">
              <a:spcBef>
                <a:spcPts val="0"/>
              </a:spcBef>
              <a:spcAft>
                <a:spcPts val="0"/>
              </a:spcAft>
              <a:buNone/>
            </a:pPr>
            <a:endParaRPr sz="16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0c865d1a12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0c865d1a12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0c865d1a12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0c865d1a12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200" i="1">
                <a:solidFill>
                  <a:srgbClr val="333333"/>
                </a:solidFill>
              </a:rPr>
              <a:t>“the degree to which two or more groups live separately from one another, in different parts of the urban environment”</a:t>
            </a:r>
            <a:endParaRPr sz="1200" i="1">
              <a:solidFill>
                <a:srgbClr val="333333"/>
              </a:solidFill>
            </a:endParaRPr>
          </a:p>
          <a:p>
            <a:pPr marL="457200" lvl="0" indent="-304800" algn="l" rtl="0">
              <a:spcBef>
                <a:spcPts val="0"/>
              </a:spcBef>
              <a:spcAft>
                <a:spcPts val="0"/>
              </a:spcAft>
              <a:buClr>
                <a:srgbClr val="333333"/>
              </a:buClr>
              <a:buSzPts val="1200"/>
              <a:buChar char="-"/>
            </a:pPr>
            <a:r>
              <a:rPr lang="en" sz="1200" i="1">
                <a:solidFill>
                  <a:srgbClr val="333333"/>
                </a:solidFill>
              </a:rPr>
              <a:t>Based on null model: 6% city level, 42% individual changes </a:t>
            </a:r>
            <a:endParaRPr sz="1200" i="1">
              <a:solidFill>
                <a:srgbClr val="333333"/>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0c865d1a1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c865d1a1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The three indicators show that people tend more than the half of the respondents disagree that people with higher income should get better education, health and pensions.</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However, on time, the changes show that in average people have become more pro-market than before (Covid between second and third measurement)</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Alpha = 0.82, ,0.85,  0.79</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0c865d1a1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0c865d1a1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Firs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0c865d1a12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0c865d1a12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overdispersion is generally produced in large part by homophily (Di Prete)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0c865d1a12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c865d1a12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0c865d1a12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c865d1a12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Meter bettas luego mostrar los predicted values para ver “tamaño de efecto”</a:t>
            </a:r>
            <a:endParaRPr/>
          </a:p>
          <a:p>
            <a:pPr marL="457200" lvl="0" indent="-298450" algn="l" rtl="0">
              <a:spcBef>
                <a:spcPts val="0"/>
              </a:spcBef>
              <a:spcAft>
                <a:spcPts val="0"/>
              </a:spcAft>
              <a:buSzPts val="1100"/>
              <a:buChar char="-"/>
            </a:pPr>
            <a:r>
              <a:rPr lang="en"/>
              <a:t>Effects sizes are rather small </a:t>
            </a:r>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0c865d1a12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0c865d1a12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Times New Roman"/>
                <a:ea typeface="Times New Roman"/>
                <a:cs typeface="Times New Roman"/>
                <a:sym typeface="Times New Roman"/>
              </a:rPr>
              <a:t>- 4.04 (- 1 SD) the average predicted market justice preferences are 0.17 </a:t>
            </a:r>
            <a:endParaRPr sz="12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dk1"/>
                </a:solidFill>
                <a:latin typeface="Times New Roman"/>
                <a:ea typeface="Times New Roman"/>
                <a:cs typeface="Times New Roman"/>
                <a:sym typeface="Times New Roman"/>
              </a:rPr>
              <a:t>network diversity is at its mean value, the average predicted market justice preferences are -0.05 </a:t>
            </a:r>
            <a:endParaRPr sz="12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dk1"/>
                </a:solidFill>
                <a:latin typeface="Times New Roman"/>
                <a:ea typeface="Times New Roman"/>
                <a:cs typeface="Times New Roman"/>
                <a:sym typeface="Times New Roman"/>
              </a:rPr>
              <a:t>when diversity rises to 1.27 (+ 1 SD) 0.07 (-0.14– 0.00)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0c865d1a12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0c865d1a12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endParaRPr sz="1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0c865d1a12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0c865d1a12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atin typeface="Georgia"/>
                <a:ea typeface="Georgia"/>
                <a:cs typeface="Georgia"/>
                <a:sym typeface="Georgi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7" r:id="rId8"/>
  </p:sldLayoutIdLst>
  <p:transition spd="med">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744575"/>
            <a:ext cx="91293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US" sz="2400" dirty="0">
                <a:latin typeface="Times New Roman"/>
                <a:ea typeface="Times New Roman"/>
                <a:cs typeface="Times New Roman"/>
                <a:sym typeface="Times New Roman"/>
              </a:rPr>
              <a:t>More Diverse, More Skeptical? How Changes in Class-based Network Diversity Shape Public Support for Commodified Welfare Services: Longitudinal Evidence from Chile </a:t>
            </a:r>
            <a:r>
              <a:rPr lang="en" sz="2400" dirty="0">
                <a:latin typeface="Times New Roman"/>
                <a:ea typeface="Times New Roman"/>
                <a:cs typeface="Times New Roman"/>
                <a:sym typeface="Times New Roman"/>
              </a:rPr>
              <a:t> </a:t>
            </a:r>
            <a:endParaRPr sz="2400" dirty="0">
              <a:latin typeface="Times New Roman"/>
              <a:ea typeface="Times New Roman"/>
              <a:cs typeface="Times New Roman"/>
              <a:sym typeface="Times New Roman"/>
            </a:endParaRPr>
          </a:p>
        </p:txBody>
      </p:sp>
      <p:pic>
        <p:nvPicPr>
          <p:cNvPr id="55" name="Google Shape;55;p13"/>
          <p:cNvPicPr preferRelativeResize="0"/>
          <p:nvPr/>
        </p:nvPicPr>
        <p:blipFill>
          <a:blip r:embed="rId3">
            <a:alphaModFix/>
          </a:blip>
          <a:stretch>
            <a:fillRect/>
          </a:stretch>
        </p:blipFill>
        <p:spPr>
          <a:xfrm>
            <a:off x="76200" y="127650"/>
            <a:ext cx="1719073" cy="859536"/>
          </a:xfrm>
          <a:prstGeom prst="rect">
            <a:avLst/>
          </a:prstGeom>
          <a:noFill/>
          <a:ln>
            <a:noFill/>
          </a:ln>
        </p:spPr>
      </p:pic>
      <p:sp>
        <p:nvSpPr>
          <p:cNvPr id="56" name="Google Shape;56;p13"/>
          <p:cNvSpPr txBox="1">
            <a:spLocks noGrp="1"/>
          </p:cNvSpPr>
          <p:nvPr>
            <p:ph type="subTitle" idx="1"/>
          </p:nvPr>
        </p:nvSpPr>
        <p:spPr>
          <a:xfrm>
            <a:off x="100" y="2797175"/>
            <a:ext cx="9129300" cy="2052600"/>
          </a:xfrm>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935"/>
              <a:buNone/>
            </a:pPr>
            <a:endParaRPr sz="1800" dirty="0">
              <a:latin typeface="Times New Roman"/>
              <a:ea typeface="Times New Roman"/>
              <a:cs typeface="Times New Roman"/>
              <a:sym typeface="Times New Roman"/>
            </a:endParaRPr>
          </a:p>
          <a:p>
            <a:pPr marL="0" lvl="0" indent="0">
              <a:buSzPts val="935"/>
            </a:pPr>
            <a:r>
              <a:rPr lang="en-US" sz="1800" dirty="0">
                <a:latin typeface="Times New Roman"/>
                <a:ea typeface="Times New Roman"/>
                <a:cs typeface="Times New Roman"/>
                <a:sym typeface="Times New Roman"/>
              </a:rPr>
              <a:t>Julio Iturra-Sanhueza</a:t>
            </a:r>
            <a:br>
              <a:rPr lang="en-US" sz="1200" dirty="0">
                <a:latin typeface="Times New Roman"/>
                <a:ea typeface="Times New Roman"/>
                <a:cs typeface="Times New Roman"/>
                <a:sym typeface="Times New Roman"/>
              </a:rPr>
            </a:br>
            <a:r>
              <a:rPr lang="en-US" sz="1200" dirty="0">
                <a:latin typeface="Times New Roman"/>
                <a:ea typeface="Times New Roman"/>
                <a:cs typeface="Times New Roman"/>
                <a:sym typeface="Times New Roman"/>
              </a:rPr>
              <a:t>Bremen International Graduate School of Social Sciences</a:t>
            </a:r>
          </a:p>
          <a:p>
            <a:pPr marL="0" lvl="0" indent="0">
              <a:buSzPts val="935"/>
            </a:pPr>
            <a:r>
              <a:rPr lang="en-US" sz="1200" b="1" dirty="0">
                <a:solidFill>
                  <a:schemeClr val="accent1"/>
                </a:solidFill>
                <a:latin typeface="Times New Roman"/>
                <a:ea typeface="Times New Roman"/>
                <a:cs typeface="Times New Roman"/>
                <a:sym typeface="Times New Roman"/>
              </a:rPr>
              <a:t>Rabat, 2025</a:t>
            </a:r>
          </a:p>
          <a:p>
            <a:pPr marL="0" lvl="0" indent="0">
              <a:buSzPts val="935"/>
            </a:pPr>
            <a:endParaRPr lang="en-US" sz="1200" dirty="0">
              <a:latin typeface="Times New Roman"/>
              <a:ea typeface="Times New Roman"/>
              <a:cs typeface="Times New Roman"/>
              <a:sym typeface="Times New Roman"/>
            </a:endParaRPr>
          </a:p>
          <a:p>
            <a:pPr marL="0" lvl="0" indent="0">
              <a:buSzPts val="935"/>
            </a:pPr>
            <a:r>
              <a:rPr lang="en-US" sz="1200" b="1" dirty="0">
                <a:latin typeface="Times New Roman"/>
                <a:ea typeface="Times New Roman"/>
                <a:cs typeface="Times New Roman"/>
                <a:sym typeface="Times New Roman"/>
              </a:rPr>
              <a:t>Supervisors:</a:t>
            </a:r>
            <a:br>
              <a:rPr lang="en-US" sz="1200" b="1" dirty="0">
                <a:latin typeface="Times New Roman"/>
                <a:ea typeface="Times New Roman"/>
                <a:cs typeface="Times New Roman"/>
                <a:sym typeface="Times New Roman"/>
              </a:rPr>
            </a:br>
            <a:r>
              <a:rPr lang="en-US" sz="1200" dirty="0">
                <a:latin typeface="Times New Roman"/>
                <a:ea typeface="Times New Roman"/>
                <a:cs typeface="Times New Roman"/>
                <a:sym typeface="Times New Roman"/>
              </a:rPr>
              <a:t>Dr. Patrick </a:t>
            </a:r>
            <a:r>
              <a:rPr lang="en-US" sz="1200" dirty="0" err="1">
                <a:latin typeface="Times New Roman"/>
                <a:ea typeface="Times New Roman"/>
                <a:cs typeface="Times New Roman"/>
                <a:sym typeface="Times New Roman"/>
              </a:rPr>
              <a:t>Sachweh</a:t>
            </a:r>
            <a:r>
              <a:rPr lang="en-US" sz="1200" dirty="0">
                <a:latin typeface="Times New Roman"/>
                <a:ea typeface="Times New Roman"/>
                <a:cs typeface="Times New Roman"/>
                <a:sym typeface="Times New Roman"/>
              </a:rPr>
              <a:t> (U. Bremen)</a:t>
            </a:r>
            <a:br>
              <a:rPr lang="en-US" sz="1200" dirty="0">
                <a:latin typeface="Times New Roman"/>
                <a:ea typeface="Times New Roman"/>
                <a:cs typeface="Times New Roman"/>
                <a:sym typeface="Times New Roman"/>
              </a:rPr>
            </a:br>
            <a:r>
              <a:rPr lang="en-US" sz="1200" dirty="0">
                <a:latin typeface="Times New Roman"/>
                <a:ea typeface="Times New Roman"/>
                <a:cs typeface="Times New Roman"/>
                <a:sym typeface="Times New Roman"/>
              </a:rPr>
              <a:t>Dr. Olaf Groh-Samberg (U. Bremen)</a:t>
            </a:r>
          </a:p>
          <a:p>
            <a:pPr marL="0" lvl="0" indent="0">
              <a:buSzPts val="935"/>
            </a:pPr>
            <a:r>
              <a:rPr lang="en-US" sz="1200" dirty="0">
                <a:latin typeface="Times New Roman"/>
                <a:ea typeface="Times New Roman"/>
                <a:cs typeface="Times New Roman"/>
                <a:sym typeface="Times New Roman"/>
              </a:rPr>
              <a:t>Dr. Simone Schneider (U. Pompeu Fabra)</a:t>
            </a:r>
          </a:p>
          <a:p>
            <a:pPr marL="0" lvl="0" indent="0" algn="ctr" rtl="0">
              <a:lnSpc>
                <a:spcPct val="100000"/>
              </a:lnSpc>
              <a:spcBef>
                <a:spcPts val="0"/>
              </a:spcBef>
              <a:spcAft>
                <a:spcPts val="0"/>
              </a:spcAft>
              <a:buSzPts val="935"/>
              <a:buNone/>
            </a:pPr>
            <a:endParaRPr sz="690" dirty="0">
              <a:latin typeface="Times New Roman"/>
              <a:ea typeface="Times New Roman"/>
              <a:cs typeface="Times New Roman"/>
              <a:sym typeface="Times New Roman"/>
            </a:endParaRPr>
          </a:p>
        </p:txBody>
      </p:sp>
      <p:pic>
        <p:nvPicPr>
          <p:cNvPr id="57" name="Google Shape;57;p13"/>
          <p:cNvPicPr preferRelativeResize="0"/>
          <p:nvPr/>
        </p:nvPicPr>
        <p:blipFill rotWithShape="1">
          <a:blip r:embed="rId4">
            <a:alphaModFix/>
          </a:blip>
          <a:srcRect l="225222" t="-195420" r="-166809" b="195420"/>
          <a:stretch/>
        </p:blipFill>
        <p:spPr>
          <a:xfrm>
            <a:off x="6286153" y="148950"/>
            <a:ext cx="1153377" cy="995350"/>
          </a:xfrm>
          <a:prstGeom prst="rect">
            <a:avLst/>
          </a:prstGeom>
          <a:noFill/>
          <a:ln>
            <a:noFill/>
          </a:ln>
        </p:spPr>
      </p:pic>
      <p:pic>
        <p:nvPicPr>
          <p:cNvPr id="58" name="Google Shape;58;p13"/>
          <p:cNvPicPr preferRelativeResize="0"/>
          <p:nvPr/>
        </p:nvPicPr>
        <p:blipFill>
          <a:blip r:embed="rId5">
            <a:alphaModFix/>
          </a:blip>
          <a:stretch>
            <a:fillRect/>
          </a:stretch>
        </p:blipFill>
        <p:spPr>
          <a:xfrm>
            <a:off x="6906847" y="59738"/>
            <a:ext cx="2158928" cy="995350"/>
          </a:xfrm>
          <a:prstGeom prst="rect">
            <a:avLst/>
          </a:prstGeom>
          <a:noFill/>
          <a:ln>
            <a:noFill/>
          </a:ln>
        </p:spPr>
      </p:pic>
      <p:pic>
        <p:nvPicPr>
          <p:cNvPr id="2" name="Google Shape;59;p13">
            <a:extLst>
              <a:ext uri="{FF2B5EF4-FFF2-40B4-BE49-F238E27FC236}">
                <a16:creationId xmlns:a16="http://schemas.microsoft.com/office/drawing/2014/main" id="{F5F90E76-8B27-0AFB-19AB-D9C0DDEFF643}"/>
              </a:ext>
            </a:extLst>
          </p:cNvPr>
          <p:cNvPicPr preferRelativeResize="0"/>
          <p:nvPr/>
        </p:nvPicPr>
        <p:blipFill>
          <a:blip r:embed="rId6">
            <a:alphaModFix/>
          </a:blip>
          <a:stretch>
            <a:fillRect/>
          </a:stretch>
        </p:blipFill>
        <p:spPr>
          <a:xfrm>
            <a:off x="3634025" y="333063"/>
            <a:ext cx="1864023" cy="448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Social networks and political attitudes </a:t>
            </a:r>
            <a:endParaRPr/>
          </a:p>
        </p:txBody>
      </p:sp>
      <p:sp>
        <p:nvSpPr>
          <p:cNvPr id="64" name="Google Shape;64;p1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b="1">
                <a:solidFill>
                  <a:srgbClr val="980000"/>
                </a:solidFill>
                <a:latin typeface="Georgia"/>
                <a:ea typeface="Georgia"/>
                <a:cs typeface="Georgia"/>
                <a:sym typeface="Georgia"/>
              </a:rPr>
              <a:t>Individual structural position and attitudes</a:t>
            </a:r>
            <a:endParaRPr sz="1200" b="1">
              <a:solidFill>
                <a:srgbClr val="980000"/>
              </a:solidFill>
              <a:latin typeface="Georgia"/>
              <a:ea typeface="Georgia"/>
              <a:cs typeface="Georgia"/>
              <a:sym typeface="Georgia"/>
            </a:endParaRPr>
          </a:p>
          <a:p>
            <a:pPr marL="457200" lvl="0" indent="-304800" algn="l" rtl="0">
              <a:lnSpc>
                <a:spcPct val="100000"/>
              </a:lnSpc>
              <a:spcBef>
                <a:spcPts val="1200"/>
              </a:spcBef>
              <a:spcAft>
                <a:spcPts val="0"/>
              </a:spcAft>
              <a:buSzPts val="1200"/>
              <a:buFont typeface="Georgia"/>
              <a:buChar char="●"/>
            </a:pPr>
            <a:r>
              <a:rPr lang="en" sz="1200">
                <a:latin typeface="Georgia"/>
                <a:ea typeface="Georgia"/>
                <a:cs typeface="Georgia"/>
                <a:sym typeface="Georgia"/>
              </a:rPr>
              <a:t>Structurally advantaged positions in the labor market justify inequality to a greater extent compared to those in greater labor market risk, low-demanded skills, and lower income (</a:t>
            </a:r>
            <a:r>
              <a:rPr lang="en" sz="1200">
                <a:solidFill>
                  <a:schemeClr val="accent1"/>
                </a:solidFill>
                <a:latin typeface="Georgia"/>
                <a:ea typeface="Georgia"/>
                <a:cs typeface="Georgia"/>
                <a:sym typeface="Georgia"/>
              </a:rPr>
              <a:t>Castillo, Salgado, Carrasco, &amp; Laffert, 2024; Lee &amp; Stacey, 2023</a:t>
            </a:r>
            <a:r>
              <a:rPr lang="en" sz="1200">
                <a:latin typeface="Georgia"/>
                <a:ea typeface="Georgia"/>
                <a:cs typeface="Georgia"/>
                <a:sym typeface="Georgia"/>
              </a:rPr>
              <a:t>). </a:t>
            </a:r>
            <a:br>
              <a:rPr lang="en" sz="1200">
                <a:latin typeface="Georgia"/>
                <a:ea typeface="Georgia"/>
                <a:cs typeface="Georgia"/>
                <a:sym typeface="Georgia"/>
              </a:rPr>
            </a:br>
            <a:endParaRPr sz="1200">
              <a:latin typeface="Georgia"/>
              <a:ea typeface="Georgia"/>
              <a:cs typeface="Georgia"/>
              <a:sym typeface="Georgia"/>
            </a:endParaRPr>
          </a:p>
          <a:p>
            <a:pPr marL="457200" lvl="0" indent="-304800" algn="l" rtl="0">
              <a:lnSpc>
                <a:spcPct val="100000"/>
              </a:lnSpc>
              <a:spcBef>
                <a:spcPts val="0"/>
              </a:spcBef>
              <a:spcAft>
                <a:spcPts val="0"/>
              </a:spcAft>
              <a:buSzPts val="1200"/>
              <a:buChar char="●"/>
            </a:pPr>
            <a:r>
              <a:rPr lang="en" sz="1200">
                <a:latin typeface="Georgia"/>
                <a:ea typeface="Georgia"/>
                <a:cs typeface="Georgia"/>
                <a:sym typeface="Georgia"/>
              </a:rPr>
              <a:t>Gap: most of the theories on the class-attitude link are based in </a:t>
            </a:r>
            <a:r>
              <a:rPr lang="en" sz="1200" b="1">
                <a:latin typeface="Georgia"/>
                <a:ea typeface="Georgia"/>
                <a:cs typeface="Georgia"/>
                <a:sym typeface="Georgia"/>
              </a:rPr>
              <a:t>cross-sectional evidence</a:t>
            </a:r>
            <a:r>
              <a:rPr lang="en" sz="1200">
                <a:latin typeface="Georgia"/>
                <a:ea typeface="Georgia"/>
                <a:cs typeface="Georgia"/>
                <a:sym typeface="Georgia"/>
              </a:rPr>
              <a:t>. </a:t>
            </a:r>
            <a:br>
              <a:rPr lang="en" sz="1200">
                <a:latin typeface="Georgia"/>
                <a:ea typeface="Georgia"/>
                <a:cs typeface="Georgia"/>
                <a:sym typeface="Georgia"/>
              </a:rPr>
            </a:br>
            <a:endParaRPr sz="1200">
              <a:latin typeface="Georgia"/>
              <a:ea typeface="Georgia"/>
              <a:cs typeface="Georgia"/>
              <a:sym typeface="Georgia"/>
            </a:endParaRPr>
          </a:p>
          <a:p>
            <a:pPr marL="457200" lvl="0" indent="-304800" algn="l" rtl="0">
              <a:lnSpc>
                <a:spcPct val="100000"/>
              </a:lnSpc>
              <a:spcBef>
                <a:spcPts val="0"/>
              </a:spcBef>
              <a:spcAft>
                <a:spcPts val="0"/>
              </a:spcAft>
              <a:buSzPts val="1200"/>
              <a:buChar char="●"/>
            </a:pPr>
            <a:r>
              <a:rPr lang="en" sz="1200">
                <a:latin typeface="Georgia"/>
                <a:ea typeface="Georgia"/>
                <a:cs typeface="Georgia"/>
                <a:sym typeface="Georgia"/>
              </a:rPr>
              <a:t>Therefore, they have underscored the role of </a:t>
            </a:r>
            <a:r>
              <a:rPr lang="en" sz="1200" b="1">
                <a:latin typeface="Georgia"/>
                <a:ea typeface="Georgia"/>
                <a:cs typeface="Georgia"/>
                <a:sym typeface="Georgia"/>
              </a:rPr>
              <a:t>“class experiences”</a:t>
            </a:r>
            <a:r>
              <a:rPr lang="en" sz="1200">
                <a:latin typeface="Georgia"/>
                <a:ea typeface="Georgia"/>
                <a:cs typeface="Georgia"/>
                <a:sym typeface="Georgia"/>
              </a:rPr>
              <a:t> – understood as the </a:t>
            </a:r>
            <a:r>
              <a:rPr lang="en" sz="1200" b="1">
                <a:latin typeface="Georgia"/>
                <a:ea typeface="Georgia"/>
                <a:cs typeface="Georgia"/>
                <a:sym typeface="Georgia"/>
              </a:rPr>
              <a:t>socialization </a:t>
            </a:r>
            <a:r>
              <a:rPr lang="en" sz="1200">
                <a:latin typeface="Georgia"/>
                <a:ea typeface="Georgia"/>
                <a:cs typeface="Georgia"/>
                <a:sym typeface="Georgia"/>
              </a:rPr>
              <a:t>processes linked to individual experiences within the class structure across the life course (</a:t>
            </a:r>
            <a:r>
              <a:rPr lang="en" sz="1200">
                <a:solidFill>
                  <a:schemeClr val="accent1"/>
                </a:solidFill>
                <a:latin typeface="Georgia"/>
                <a:ea typeface="Georgia"/>
                <a:cs typeface="Georgia"/>
                <a:sym typeface="Georgia"/>
              </a:rPr>
              <a:t>Ares, 2020; Helgason &amp; Rehm, 2024; Langsæther, Evans, &amp; O’Grady, 2022</a:t>
            </a:r>
            <a:r>
              <a:rPr lang="en" sz="1200">
                <a:latin typeface="Georgia"/>
                <a:ea typeface="Georgia"/>
                <a:cs typeface="Georgia"/>
                <a:sym typeface="Georgia"/>
              </a:rPr>
              <a:t>).  	</a:t>
            </a:r>
            <a:endParaRPr sz="1200">
              <a:latin typeface="Georgia"/>
              <a:ea typeface="Georgia"/>
              <a:cs typeface="Georgia"/>
              <a:sym typeface="Georgia"/>
            </a:endParaRPr>
          </a:p>
          <a:p>
            <a:pPr marL="0" lvl="0" indent="0" algn="l" rtl="0">
              <a:lnSpc>
                <a:spcPct val="100000"/>
              </a:lnSpc>
              <a:spcBef>
                <a:spcPts val="1200"/>
              </a:spcBef>
              <a:spcAft>
                <a:spcPts val="0"/>
              </a:spcAft>
              <a:buNone/>
            </a:pPr>
            <a:endParaRPr sz="1200">
              <a:latin typeface="Georgia"/>
              <a:ea typeface="Georgia"/>
              <a:cs typeface="Georgia"/>
              <a:sym typeface="Georgia"/>
            </a:endParaRPr>
          </a:p>
          <a:p>
            <a:pPr marL="0" lvl="0" indent="0" algn="l" rtl="0">
              <a:lnSpc>
                <a:spcPct val="100000"/>
              </a:lnSpc>
              <a:spcBef>
                <a:spcPts val="1200"/>
              </a:spcBef>
              <a:spcAft>
                <a:spcPts val="1200"/>
              </a:spcAft>
              <a:buNone/>
            </a:pPr>
            <a:endParaRPr sz="1200">
              <a:latin typeface="Georgia"/>
              <a:ea typeface="Georgia"/>
              <a:cs typeface="Georgia"/>
              <a:sym typeface="Georgia"/>
            </a:endParaRPr>
          </a:p>
        </p:txBody>
      </p:sp>
      <p:sp>
        <p:nvSpPr>
          <p:cNvPr id="65" name="Google Shape;65;p14"/>
          <p:cNvSpPr txBox="1">
            <a:spLocks noGrp="1"/>
          </p:cNvSpPr>
          <p:nvPr>
            <p:ph type="body" idx="1"/>
          </p:nvPr>
        </p:nvSpPr>
        <p:spPr>
          <a:xfrm>
            <a:off x="311700" y="1152475"/>
            <a:ext cx="3999900" cy="34164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b="1">
                <a:solidFill>
                  <a:srgbClr val="980000"/>
                </a:solidFill>
                <a:latin typeface="Georgia"/>
                <a:ea typeface="Georgia"/>
                <a:cs typeface="Georgia"/>
                <a:sym typeface="Georgia"/>
              </a:rPr>
              <a:t>Social networks and attitudes towards inequality</a:t>
            </a:r>
            <a:endParaRPr sz="1200" b="1">
              <a:solidFill>
                <a:srgbClr val="980000"/>
              </a:solidFill>
              <a:latin typeface="Georgia"/>
              <a:ea typeface="Georgia"/>
              <a:cs typeface="Georgia"/>
              <a:sym typeface="Georgia"/>
            </a:endParaRPr>
          </a:p>
          <a:p>
            <a:pPr marL="457200" lvl="0" indent="-304800" algn="l" rtl="0">
              <a:lnSpc>
                <a:spcPct val="100000"/>
              </a:lnSpc>
              <a:spcBef>
                <a:spcPts val="1200"/>
              </a:spcBef>
              <a:spcAft>
                <a:spcPts val="0"/>
              </a:spcAft>
              <a:buSzPts val="1200"/>
              <a:buChar char="●"/>
            </a:pPr>
            <a:r>
              <a:rPr lang="en" sz="1200">
                <a:latin typeface="Georgia"/>
                <a:ea typeface="Georgia"/>
                <a:cs typeface="Georgia"/>
                <a:sym typeface="Georgia"/>
              </a:rPr>
              <a:t>Attitudes in the economic domain can be affected by: (i) </a:t>
            </a:r>
            <a:r>
              <a:rPr lang="en" sz="1200" b="1">
                <a:latin typeface="Georgia"/>
                <a:ea typeface="Georgia"/>
                <a:cs typeface="Georgia"/>
                <a:sym typeface="Georgia"/>
              </a:rPr>
              <a:t>social influence </a:t>
            </a:r>
            <a:r>
              <a:rPr lang="en" sz="1200">
                <a:latin typeface="Georgia"/>
                <a:ea typeface="Georgia"/>
                <a:cs typeface="Georgia"/>
                <a:sym typeface="Georgia"/>
              </a:rPr>
              <a:t>and (ii) </a:t>
            </a:r>
            <a:r>
              <a:rPr lang="en" sz="1200" b="1">
                <a:latin typeface="Georgia"/>
                <a:ea typeface="Georgia"/>
                <a:cs typeface="Georgia"/>
                <a:sym typeface="Georgia"/>
              </a:rPr>
              <a:t>segregation</a:t>
            </a:r>
            <a:r>
              <a:rPr lang="en" sz="1200">
                <a:latin typeface="Georgia"/>
                <a:ea typeface="Georgia"/>
                <a:cs typeface="Georgia"/>
                <a:sym typeface="Georgia"/>
              </a:rPr>
              <a:t>.(</a:t>
            </a:r>
            <a:r>
              <a:rPr lang="en" sz="1200">
                <a:solidFill>
                  <a:schemeClr val="accent1"/>
                </a:solidFill>
                <a:latin typeface="Georgia"/>
                <a:ea typeface="Georgia"/>
                <a:cs typeface="Georgia"/>
                <a:sym typeface="Georgia"/>
              </a:rPr>
              <a:t>Lindh et al., 2021; Paskov &amp; Weisstanner, 2022).</a:t>
            </a:r>
            <a:r>
              <a:rPr lang="en" sz="1200">
                <a:latin typeface="Georgia"/>
                <a:ea typeface="Georgia"/>
                <a:cs typeface="Georgia"/>
                <a:sym typeface="Georgia"/>
              </a:rPr>
              <a:t> For example, the status of family ties can affect support for government income redistribution (</a:t>
            </a:r>
            <a:r>
              <a:rPr lang="en" sz="1200">
                <a:solidFill>
                  <a:schemeClr val="accent1"/>
                </a:solidFill>
                <a:latin typeface="Georgia"/>
                <a:ea typeface="Georgia"/>
                <a:cs typeface="Georgia"/>
                <a:sym typeface="Georgia"/>
              </a:rPr>
              <a:t>Paskov &amp; Weisstanner, 2022</a:t>
            </a:r>
            <a:r>
              <a:rPr lang="en" sz="1200">
                <a:latin typeface="Georgia"/>
                <a:ea typeface="Georgia"/>
                <a:cs typeface="Georgia"/>
                <a:sym typeface="Georgia"/>
              </a:rPr>
              <a:t>).</a:t>
            </a:r>
            <a:br>
              <a:rPr lang="en" sz="1200">
                <a:latin typeface="Georgia"/>
                <a:ea typeface="Georgia"/>
                <a:cs typeface="Georgia"/>
                <a:sym typeface="Georgia"/>
              </a:rPr>
            </a:br>
            <a:endParaRPr sz="1200">
              <a:latin typeface="Georgia"/>
              <a:ea typeface="Georgia"/>
              <a:cs typeface="Georgia"/>
              <a:sym typeface="Georgia"/>
            </a:endParaRPr>
          </a:p>
          <a:p>
            <a:pPr marL="457200" lvl="0" indent="-304800" algn="l" rtl="0">
              <a:lnSpc>
                <a:spcPct val="100000"/>
              </a:lnSpc>
              <a:spcBef>
                <a:spcPts val="0"/>
              </a:spcBef>
              <a:spcAft>
                <a:spcPts val="0"/>
              </a:spcAft>
              <a:buSzPts val="1200"/>
              <a:buChar char="●"/>
            </a:pPr>
            <a:r>
              <a:rPr lang="en" sz="1200">
                <a:latin typeface="Georgia"/>
                <a:ea typeface="Georgia"/>
                <a:cs typeface="Georgia"/>
                <a:sym typeface="Georgia"/>
              </a:rPr>
              <a:t>Increased social integration in </a:t>
            </a:r>
            <a:r>
              <a:rPr lang="en" sz="1200" b="1">
                <a:latin typeface="Georgia"/>
                <a:ea typeface="Georgia"/>
                <a:cs typeface="Georgia"/>
                <a:sym typeface="Georgia"/>
              </a:rPr>
              <a:t>diverse networks </a:t>
            </a:r>
            <a:r>
              <a:rPr lang="en" sz="1200">
                <a:latin typeface="Georgia"/>
                <a:ea typeface="Georgia"/>
                <a:cs typeface="Georgia"/>
                <a:sym typeface="Georgia"/>
              </a:rPr>
              <a:t>contributes to </a:t>
            </a:r>
            <a:r>
              <a:rPr lang="en" sz="1200" b="1">
                <a:latin typeface="Georgia"/>
                <a:ea typeface="Georgia"/>
                <a:cs typeface="Georgia"/>
                <a:sym typeface="Georgia"/>
              </a:rPr>
              <a:t>critical views on inequality </a:t>
            </a:r>
            <a:r>
              <a:rPr lang="en" sz="1200">
                <a:latin typeface="Georgia"/>
                <a:ea typeface="Georgia"/>
                <a:cs typeface="Georgia"/>
                <a:sym typeface="Georgia"/>
              </a:rPr>
              <a:t>(</a:t>
            </a:r>
            <a:r>
              <a:rPr lang="en" sz="1200">
                <a:solidFill>
                  <a:schemeClr val="accent1"/>
                </a:solidFill>
                <a:latin typeface="Georgia"/>
                <a:ea typeface="Georgia"/>
                <a:cs typeface="Georgia"/>
                <a:sym typeface="Georgia"/>
              </a:rPr>
              <a:t>Otero &amp; Mendoza, 2023</a:t>
            </a:r>
            <a:r>
              <a:rPr lang="en" sz="1200">
                <a:latin typeface="Georgia"/>
                <a:ea typeface="Georgia"/>
                <a:cs typeface="Georgia"/>
                <a:sym typeface="Georgia"/>
              </a:rPr>
              <a:t>). Networks operate as inferential spaces that </a:t>
            </a:r>
            <a:r>
              <a:rPr lang="en" sz="1200" b="1">
                <a:latin typeface="Georgia"/>
                <a:ea typeface="Georgia"/>
                <a:cs typeface="Georgia"/>
                <a:sym typeface="Georgia"/>
              </a:rPr>
              <a:t>highlight </a:t>
            </a:r>
            <a:r>
              <a:rPr lang="en" sz="1200">
                <a:latin typeface="Georgia"/>
                <a:ea typeface="Georgia"/>
                <a:cs typeface="Georgia"/>
                <a:sym typeface="Georgia"/>
              </a:rPr>
              <a:t>the link between </a:t>
            </a:r>
            <a:r>
              <a:rPr lang="en" sz="1200" b="1">
                <a:latin typeface="Georgia"/>
                <a:ea typeface="Georgia"/>
                <a:cs typeface="Georgia"/>
                <a:sym typeface="Georgia"/>
              </a:rPr>
              <a:t>economic inequality </a:t>
            </a:r>
            <a:r>
              <a:rPr lang="en" sz="1200">
                <a:latin typeface="Georgia"/>
                <a:ea typeface="Georgia"/>
                <a:cs typeface="Georgia"/>
                <a:sym typeface="Georgia"/>
              </a:rPr>
              <a:t>and </a:t>
            </a:r>
            <a:r>
              <a:rPr lang="en" sz="1200" b="1">
                <a:latin typeface="Georgia"/>
                <a:ea typeface="Georgia"/>
                <a:cs typeface="Georgia"/>
                <a:sym typeface="Georgia"/>
              </a:rPr>
              <a:t>rewards </a:t>
            </a:r>
            <a:r>
              <a:rPr lang="en" sz="1200">
                <a:latin typeface="Georgia"/>
                <a:ea typeface="Georgia"/>
                <a:cs typeface="Georgia"/>
                <a:sym typeface="Georgia"/>
              </a:rPr>
              <a:t>in the labour market (</a:t>
            </a:r>
            <a:r>
              <a:rPr lang="en" sz="1200">
                <a:solidFill>
                  <a:schemeClr val="accent1"/>
                </a:solidFill>
                <a:latin typeface="Georgia"/>
                <a:ea typeface="Georgia"/>
                <a:cs typeface="Georgia"/>
                <a:sym typeface="Georgia"/>
              </a:rPr>
              <a:t>Mijs, 2018</a:t>
            </a:r>
            <a:r>
              <a:rPr lang="en" sz="1200">
                <a:latin typeface="Georgia"/>
                <a:ea typeface="Georgia"/>
                <a:cs typeface="Georgia"/>
                <a:sym typeface="Georgia"/>
              </a:rPr>
              <a:t>). </a:t>
            </a:r>
            <a:endParaRPr sz="1200">
              <a:latin typeface="Georgia"/>
              <a:ea typeface="Georgia"/>
              <a:cs typeface="Georgia"/>
              <a:sym typeface="Georgia"/>
            </a:endParaRPr>
          </a:p>
          <a:p>
            <a:pPr marL="0" lvl="0" indent="0" algn="l" rtl="0">
              <a:lnSpc>
                <a:spcPct val="100000"/>
              </a:lnSpc>
              <a:spcBef>
                <a:spcPts val="1200"/>
              </a:spcBef>
              <a:spcAft>
                <a:spcPts val="1200"/>
              </a:spcAft>
              <a:buNone/>
            </a:pPr>
            <a:endParaRPr sz="1200">
              <a:latin typeface="Georgia"/>
              <a:ea typeface="Georgia"/>
              <a:cs typeface="Georgia"/>
              <a:sym typeface="Georgia"/>
            </a:endParaRPr>
          </a:p>
        </p:txBody>
      </p:sp>
      <p:sp>
        <p:nvSpPr>
          <p:cNvPr id="66" name="Google Shape;6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
        <p:nvSpPr>
          <p:cNvPr id="67" name="Google Shape;67;p14"/>
          <p:cNvSpPr txBox="1"/>
          <p:nvPr/>
        </p:nvSpPr>
        <p:spPr>
          <a:xfrm>
            <a:off x="4572000" y="4485910"/>
            <a:ext cx="4322100" cy="63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endParaRPr sz="11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body" idx="2"/>
          </p:nvPr>
        </p:nvSpPr>
        <p:spPr>
          <a:xfrm>
            <a:off x="47562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Georgia"/>
                <a:ea typeface="Georgia"/>
                <a:cs typeface="Georgia"/>
                <a:sym typeface="Georgia"/>
              </a:rPr>
              <a:t>Inequality and market justice </a:t>
            </a:r>
            <a:endParaRPr sz="1200" b="1">
              <a:solidFill>
                <a:srgbClr val="980000"/>
              </a:solidFill>
              <a:latin typeface="Georgia"/>
              <a:ea typeface="Georgia"/>
              <a:cs typeface="Georgia"/>
              <a:sym typeface="Georgia"/>
            </a:endParaRPr>
          </a:p>
          <a:p>
            <a:pPr marL="457200" lvl="0" indent="-292100" algn="l" rtl="0">
              <a:spcBef>
                <a:spcPts val="1200"/>
              </a:spcBef>
              <a:spcAft>
                <a:spcPts val="0"/>
              </a:spcAft>
              <a:buSzPts val="1000"/>
              <a:buFont typeface="Georgia"/>
              <a:buChar char="●"/>
            </a:pPr>
            <a:r>
              <a:rPr lang="en" sz="1000">
                <a:latin typeface="Georgia"/>
                <a:ea typeface="Georgia"/>
                <a:cs typeface="Georgia"/>
                <a:sym typeface="Georgia"/>
              </a:rPr>
              <a:t>When market agents (e.g., firms) have a </a:t>
            </a:r>
            <a:r>
              <a:rPr lang="en" sz="1000" b="1">
                <a:latin typeface="Georgia"/>
                <a:ea typeface="Georgia"/>
                <a:cs typeface="Georgia"/>
                <a:sym typeface="Georgia"/>
              </a:rPr>
              <a:t>greater presence</a:t>
            </a:r>
            <a:r>
              <a:rPr lang="en" sz="1000">
                <a:latin typeface="Georgia"/>
                <a:ea typeface="Georgia"/>
                <a:cs typeface="Georgia"/>
                <a:sym typeface="Georgia"/>
              </a:rPr>
              <a:t> in welfare provision, the role of (market) income inequality can </a:t>
            </a:r>
            <a:r>
              <a:rPr lang="en" sz="1000" b="1">
                <a:latin typeface="Georgia"/>
                <a:ea typeface="Georgia"/>
                <a:cs typeface="Georgia"/>
                <a:sym typeface="Georgia"/>
              </a:rPr>
              <a:t>enhance inequalities </a:t>
            </a:r>
            <a:r>
              <a:rPr lang="en" sz="1000">
                <a:latin typeface="Georgia"/>
                <a:ea typeface="Georgia"/>
                <a:cs typeface="Georgia"/>
                <a:sym typeface="Georgia"/>
              </a:rPr>
              <a:t>in other social domains (e.g., education, health) (</a:t>
            </a:r>
            <a:r>
              <a:rPr lang="en" sz="1000">
                <a:solidFill>
                  <a:schemeClr val="accent1"/>
                </a:solidFill>
                <a:latin typeface="Georgia"/>
                <a:ea typeface="Georgia"/>
                <a:cs typeface="Georgia"/>
                <a:sym typeface="Georgia"/>
              </a:rPr>
              <a:t>Lindh &amp; McCall, 2022</a:t>
            </a:r>
            <a:r>
              <a:rPr lang="en" sz="1000">
                <a:latin typeface="Georgia"/>
                <a:ea typeface="Georgia"/>
                <a:cs typeface="Georgia"/>
                <a:sym typeface="Georgia"/>
              </a:rPr>
              <a:t>)</a:t>
            </a:r>
            <a:br>
              <a:rPr lang="en" sz="1000">
                <a:latin typeface="Georgia"/>
                <a:ea typeface="Georgia"/>
                <a:cs typeface="Georgia"/>
                <a:sym typeface="Georgia"/>
              </a:rPr>
            </a:br>
            <a:endParaRPr sz="1000">
              <a:latin typeface="Georgia"/>
              <a:ea typeface="Georgia"/>
              <a:cs typeface="Georgia"/>
              <a:sym typeface="Georgia"/>
            </a:endParaRPr>
          </a:p>
          <a:p>
            <a:pPr marL="457200" lvl="0" indent="-292100" algn="l" rtl="0">
              <a:spcBef>
                <a:spcPts val="0"/>
              </a:spcBef>
              <a:spcAft>
                <a:spcPts val="0"/>
              </a:spcAft>
              <a:buSzPts val="1000"/>
              <a:buChar char="●"/>
            </a:pPr>
            <a:r>
              <a:rPr lang="en" sz="1000">
                <a:latin typeface="Georgia"/>
                <a:ea typeface="Georgia"/>
                <a:cs typeface="Georgia"/>
                <a:sym typeface="Georgia"/>
              </a:rPr>
              <a:t>The set of principles and norms that entail greater relevance to merit-based rewards in the labor market has been addressed under the concept of </a:t>
            </a:r>
            <a:r>
              <a:rPr lang="en" sz="1000" b="1" i="1">
                <a:latin typeface="Georgia"/>
                <a:ea typeface="Georgia"/>
                <a:cs typeface="Georgia"/>
                <a:sym typeface="Georgia"/>
              </a:rPr>
              <a:t>market justice</a:t>
            </a:r>
            <a:r>
              <a:rPr lang="en" sz="1000">
                <a:latin typeface="Georgia"/>
                <a:ea typeface="Georgia"/>
                <a:cs typeface="Georgia"/>
                <a:sym typeface="Georgia"/>
              </a:rPr>
              <a:t> (</a:t>
            </a:r>
            <a:r>
              <a:rPr lang="en" sz="1000">
                <a:solidFill>
                  <a:schemeClr val="accent1"/>
                </a:solidFill>
                <a:latin typeface="Georgia"/>
                <a:ea typeface="Georgia"/>
                <a:cs typeface="Georgia"/>
                <a:sym typeface="Georgia"/>
              </a:rPr>
              <a:t>Kluegel, Mason, &amp; Wegener, 1999; Lane, 1986</a:t>
            </a:r>
            <a:r>
              <a:rPr lang="en" sz="1000">
                <a:latin typeface="Georgia"/>
                <a:ea typeface="Georgia"/>
                <a:cs typeface="Georgia"/>
                <a:sym typeface="Georgia"/>
              </a:rPr>
              <a:t>). </a:t>
            </a:r>
            <a:br>
              <a:rPr lang="en" sz="1000">
                <a:latin typeface="Georgia"/>
                <a:ea typeface="Georgia"/>
                <a:cs typeface="Georgia"/>
                <a:sym typeface="Georgia"/>
              </a:rPr>
            </a:br>
            <a:endParaRPr sz="1000">
              <a:latin typeface="Georgia"/>
              <a:ea typeface="Georgia"/>
              <a:cs typeface="Georgia"/>
              <a:sym typeface="Georgia"/>
            </a:endParaRPr>
          </a:p>
          <a:p>
            <a:pPr marL="457200" lvl="0" indent="-292100" algn="l" rtl="0">
              <a:spcBef>
                <a:spcPts val="0"/>
              </a:spcBef>
              <a:spcAft>
                <a:spcPts val="0"/>
              </a:spcAft>
              <a:buSzPts val="1000"/>
              <a:buChar char="●"/>
            </a:pPr>
            <a:r>
              <a:rPr lang="en" sz="1000">
                <a:latin typeface="Georgia"/>
                <a:ea typeface="Georgia"/>
                <a:cs typeface="Georgia"/>
                <a:sym typeface="Georgia"/>
              </a:rPr>
              <a:t>The market-based distribution of social services implies that it is </a:t>
            </a:r>
            <a:r>
              <a:rPr lang="en" sz="1000" b="1">
                <a:latin typeface="Georgia"/>
                <a:ea typeface="Georgia"/>
                <a:cs typeface="Georgia"/>
                <a:sym typeface="Georgia"/>
              </a:rPr>
              <a:t>legitimized</a:t>
            </a:r>
            <a:r>
              <a:rPr lang="en" sz="1000">
                <a:latin typeface="Georgia"/>
                <a:ea typeface="Georgia"/>
                <a:cs typeface="Georgia"/>
                <a:sym typeface="Georgia"/>
              </a:rPr>
              <a:t> that welfare is determined on the basis of </a:t>
            </a:r>
            <a:r>
              <a:rPr lang="en" sz="1000" b="1">
                <a:latin typeface="Georgia"/>
                <a:ea typeface="Georgia"/>
                <a:cs typeface="Georgia"/>
                <a:sym typeface="Georgia"/>
              </a:rPr>
              <a:t>payment capacity (out-of-pocket)</a:t>
            </a:r>
            <a:r>
              <a:rPr lang="en" sz="1000">
                <a:latin typeface="Georgia"/>
                <a:ea typeface="Georgia"/>
                <a:cs typeface="Georgia"/>
                <a:sym typeface="Georgia"/>
              </a:rPr>
              <a:t>  (</a:t>
            </a:r>
            <a:r>
              <a:rPr lang="en" sz="1000">
                <a:solidFill>
                  <a:schemeClr val="accent1"/>
                </a:solidFill>
                <a:latin typeface="Georgia"/>
                <a:ea typeface="Georgia"/>
                <a:cs typeface="Georgia"/>
                <a:sym typeface="Georgia"/>
              </a:rPr>
              <a:t>Svallfors, 2007</a:t>
            </a:r>
            <a:r>
              <a:rPr lang="en" sz="1000">
                <a:latin typeface="Georgia"/>
                <a:ea typeface="Georgia"/>
                <a:cs typeface="Georgia"/>
                <a:sym typeface="Georgia"/>
              </a:rPr>
              <a:t>) </a:t>
            </a:r>
            <a:br>
              <a:rPr lang="en" sz="1000">
                <a:latin typeface="Georgia"/>
                <a:ea typeface="Georgia"/>
                <a:cs typeface="Georgia"/>
                <a:sym typeface="Georgia"/>
              </a:rPr>
            </a:br>
            <a:endParaRPr sz="1000">
              <a:latin typeface="Georgia"/>
              <a:ea typeface="Georgia"/>
              <a:cs typeface="Georgia"/>
              <a:sym typeface="Georgia"/>
            </a:endParaRPr>
          </a:p>
          <a:p>
            <a:pPr marL="457200" lvl="0" indent="-292100" algn="l" rtl="0">
              <a:spcBef>
                <a:spcPts val="0"/>
              </a:spcBef>
              <a:spcAft>
                <a:spcPts val="0"/>
              </a:spcAft>
              <a:buSzPts val="1000"/>
              <a:buChar char="●"/>
            </a:pPr>
            <a:r>
              <a:rPr lang="en" sz="1000">
                <a:latin typeface="Georgia"/>
                <a:ea typeface="Georgia"/>
                <a:cs typeface="Georgia"/>
                <a:sym typeface="Georgia"/>
              </a:rPr>
              <a:t>Thus, labour market inequalities should also be reflected in </a:t>
            </a:r>
            <a:r>
              <a:rPr lang="en" sz="1000" b="1">
                <a:latin typeface="Georgia"/>
                <a:ea typeface="Georgia"/>
                <a:cs typeface="Georgia"/>
                <a:sym typeface="Georgia"/>
              </a:rPr>
              <a:t>people's attitudes</a:t>
            </a:r>
            <a:r>
              <a:rPr lang="en" sz="1000">
                <a:latin typeface="Georgia"/>
                <a:ea typeface="Georgia"/>
                <a:cs typeface="Georgia"/>
                <a:sym typeface="Georgia"/>
              </a:rPr>
              <a:t> towards the </a:t>
            </a:r>
            <a:r>
              <a:rPr lang="en" sz="1000" b="1">
                <a:latin typeface="Georgia"/>
                <a:ea typeface="Georgia"/>
                <a:cs typeface="Georgia"/>
                <a:sym typeface="Georgia"/>
              </a:rPr>
              <a:t>commodification of social services</a:t>
            </a:r>
            <a:r>
              <a:rPr lang="en" sz="1000">
                <a:latin typeface="Georgia"/>
                <a:ea typeface="Georgia"/>
                <a:cs typeface="Georgia"/>
                <a:sym typeface="Georgia"/>
              </a:rPr>
              <a:t> (</a:t>
            </a:r>
            <a:r>
              <a:rPr lang="en" sz="1000">
                <a:solidFill>
                  <a:schemeClr val="accent1"/>
                </a:solidFill>
                <a:latin typeface="Georgia"/>
                <a:ea typeface="Georgia"/>
                <a:cs typeface="Georgia"/>
                <a:sym typeface="Georgia"/>
              </a:rPr>
              <a:t>Lindh, 2015</a:t>
            </a:r>
            <a:r>
              <a:rPr lang="en" sz="1000">
                <a:latin typeface="Georgia"/>
                <a:ea typeface="Georgia"/>
                <a:cs typeface="Georgia"/>
                <a:sym typeface="Georgia"/>
              </a:rPr>
              <a:t>)</a:t>
            </a:r>
            <a:endParaRPr sz="1000">
              <a:latin typeface="Georgia"/>
              <a:ea typeface="Georgia"/>
              <a:cs typeface="Georgia"/>
              <a:sym typeface="Georgia"/>
            </a:endParaRPr>
          </a:p>
        </p:txBody>
      </p:sp>
      <p:sp>
        <p:nvSpPr>
          <p:cNvPr id="73" name="Google Shape;73;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990"/>
              <a:buFont typeface="Arial"/>
              <a:buNone/>
            </a:pPr>
            <a:r>
              <a:rPr lang="en" sz="2320"/>
              <a:t>Attitudes toward market distributions</a:t>
            </a:r>
            <a:endParaRPr sz="2320"/>
          </a:p>
          <a:p>
            <a:pPr marL="0" lvl="0" indent="0" algn="l" rtl="0">
              <a:spcBef>
                <a:spcPts val="0"/>
              </a:spcBef>
              <a:spcAft>
                <a:spcPts val="0"/>
              </a:spcAft>
              <a:buSzPts val="990"/>
              <a:buNone/>
            </a:pPr>
            <a:endParaRPr sz="2320"/>
          </a:p>
        </p:txBody>
      </p:sp>
      <p:sp>
        <p:nvSpPr>
          <p:cNvPr id="74" name="Google Shape;74;p1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Georgia"/>
                <a:ea typeface="Georgia"/>
                <a:cs typeface="Georgia"/>
                <a:sym typeface="Georgia"/>
              </a:rPr>
              <a:t>Social services in the market</a:t>
            </a:r>
            <a:endParaRPr sz="1200" b="1">
              <a:solidFill>
                <a:srgbClr val="980000"/>
              </a:solidFill>
              <a:latin typeface="Georgia"/>
              <a:ea typeface="Georgia"/>
              <a:cs typeface="Georgia"/>
              <a:sym typeface="Georgia"/>
            </a:endParaRPr>
          </a:p>
          <a:p>
            <a:pPr marL="457200" lvl="0" indent="-304800" algn="l" rtl="0">
              <a:spcBef>
                <a:spcPts val="1200"/>
              </a:spcBef>
              <a:spcAft>
                <a:spcPts val="0"/>
              </a:spcAft>
              <a:buSzPts val="1200"/>
              <a:buChar char="●"/>
            </a:pPr>
            <a:r>
              <a:rPr lang="en" sz="1200">
                <a:latin typeface="Georgia"/>
                <a:ea typeface="Georgia"/>
                <a:cs typeface="Georgia"/>
                <a:sym typeface="Georgia"/>
              </a:rPr>
              <a:t>In contexts of </a:t>
            </a:r>
            <a:r>
              <a:rPr lang="en" sz="1200" b="1">
                <a:latin typeface="Georgia"/>
                <a:ea typeface="Georgia"/>
                <a:cs typeface="Georgia"/>
                <a:sym typeface="Georgia"/>
              </a:rPr>
              <a:t>high inequality </a:t>
            </a:r>
            <a:r>
              <a:rPr lang="en" sz="1200">
                <a:latin typeface="Georgia"/>
                <a:ea typeface="Georgia"/>
                <a:cs typeface="Georgia"/>
                <a:sym typeface="Georgia"/>
              </a:rPr>
              <a:t>and </a:t>
            </a:r>
            <a:r>
              <a:rPr lang="en" sz="1200" b="1">
                <a:latin typeface="Georgia"/>
                <a:ea typeface="Georgia"/>
                <a:cs typeface="Georgia"/>
                <a:sym typeface="Georgia"/>
              </a:rPr>
              <a:t>modest public provision </a:t>
            </a:r>
            <a:r>
              <a:rPr lang="en" sz="1200">
                <a:latin typeface="Georgia"/>
                <a:ea typeface="Georgia"/>
                <a:cs typeface="Georgia"/>
                <a:sym typeface="Georgia"/>
              </a:rPr>
              <a:t>of welfare, the capacity of citizens to contribute or pay largely constraints access to welfare services (</a:t>
            </a:r>
            <a:r>
              <a:rPr lang="en" sz="1200">
                <a:solidFill>
                  <a:schemeClr val="accent1"/>
                </a:solidFill>
                <a:latin typeface="Georgia"/>
                <a:ea typeface="Georgia"/>
                <a:cs typeface="Georgia"/>
                <a:sym typeface="Georgia"/>
              </a:rPr>
              <a:t>Immergut &amp; Schneider, 2020; Lindh, 2015; Castillo et al 2024</a:t>
            </a:r>
            <a:r>
              <a:rPr lang="en" sz="1200">
                <a:latin typeface="Georgia"/>
                <a:ea typeface="Georgia"/>
                <a:cs typeface="Georgia"/>
                <a:sym typeface="Georgia"/>
              </a:rPr>
              <a:t>)</a:t>
            </a:r>
            <a:br>
              <a:rPr lang="en" sz="1200" b="1">
                <a:latin typeface="Georgia"/>
                <a:ea typeface="Georgia"/>
                <a:cs typeface="Georgia"/>
                <a:sym typeface="Georgia"/>
              </a:rPr>
            </a:br>
            <a:endParaRPr sz="1200" b="1">
              <a:latin typeface="Georgia"/>
              <a:ea typeface="Georgia"/>
              <a:cs typeface="Georgia"/>
              <a:sym typeface="Georgia"/>
            </a:endParaRPr>
          </a:p>
          <a:p>
            <a:pPr marL="457200" lvl="0" indent="-304800" algn="l" rtl="0">
              <a:spcBef>
                <a:spcPts val="0"/>
              </a:spcBef>
              <a:spcAft>
                <a:spcPts val="0"/>
              </a:spcAft>
              <a:buSzPts val="1200"/>
              <a:buFont typeface="Georgia"/>
              <a:buChar char="●"/>
            </a:pPr>
            <a:r>
              <a:rPr lang="en" sz="1200">
                <a:latin typeface="Georgia"/>
                <a:ea typeface="Georgia"/>
                <a:cs typeface="Georgia"/>
                <a:sym typeface="Georgia"/>
              </a:rPr>
              <a:t>Unlike state redistribution, in these contexts market actors plays a salient role the provision of welfare (</a:t>
            </a:r>
            <a:r>
              <a:rPr lang="en" sz="1200">
                <a:solidFill>
                  <a:schemeClr val="accent1"/>
                </a:solidFill>
                <a:latin typeface="Georgia"/>
                <a:ea typeface="Georgia"/>
                <a:cs typeface="Georgia"/>
                <a:sym typeface="Georgia"/>
              </a:rPr>
              <a:t>Svallfors, 2006</a:t>
            </a:r>
            <a:r>
              <a:rPr lang="en" sz="1200">
                <a:latin typeface="Georgia"/>
                <a:ea typeface="Georgia"/>
                <a:cs typeface="Georgia"/>
                <a:sym typeface="Georgia"/>
              </a:rPr>
              <a:t>)</a:t>
            </a:r>
            <a:br>
              <a:rPr lang="en" sz="1200">
                <a:latin typeface="Georgia"/>
                <a:ea typeface="Georgia"/>
                <a:cs typeface="Georgia"/>
                <a:sym typeface="Georgia"/>
              </a:rPr>
            </a:br>
            <a:endParaRPr sz="1200">
              <a:latin typeface="Georgia"/>
              <a:ea typeface="Georgia"/>
              <a:cs typeface="Georgia"/>
              <a:sym typeface="Georgia"/>
            </a:endParaRPr>
          </a:p>
          <a:p>
            <a:pPr marL="457200" lvl="0" indent="-304800" algn="l" rtl="0">
              <a:spcBef>
                <a:spcPts val="0"/>
              </a:spcBef>
              <a:spcAft>
                <a:spcPts val="0"/>
              </a:spcAft>
              <a:buSzPts val="1200"/>
              <a:buChar char="●"/>
            </a:pPr>
            <a:r>
              <a:rPr lang="en" sz="1200">
                <a:latin typeface="Georgia"/>
                <a:ea typeface="Georgia"/>
                <a:cs typeface="Georgia"/>
                <a:sym typeface="Georgia"/>
              </a:rPr>
              <a:t>Welfare is object of commodification on a gradient from market-led, mixed or state provision - can be </a:t>
            </a:r>
            <a:r>
              <a:rPr lang="en" sz="1200" b="1">
                <a:latin typeface="Georgia"/>
                <a:ea typeface="Georgia"/>
                <a:cs typeface="Georgia"/>
                <a:sym typeface="Georgia"/>
              </a:rPr>
              <a:t>traded as commodity</a:t>
            </a:r>
            <a:r>
              <a:rPr lang="en" sz="1200">
                <a:latin typeface="Georgia"/>
                <a:ea typeface="Georgia"/>
                <a:cs typeface="Georgia"/>
                <a:sym typeface="Georgia"/>
              </a:rPr>
              <a:t>, </a:t>
            </a:r>
            <a:r>
              <a:rPr lang="en" sz="1200" b="1">
                <a:latin typeface="Georgia"/>
                <a:ea typeface="Georgia"/>
                <a:cs typeface="Georgia"/>
                <a:sym typeface="Georgia"/>
              </a:rPr>
              <a:t>valued </a:t>
            </a:r>
            <a:r>
              <a:rPr lang="en" sz="1200">
                <a:latin typeface="Georgia"/>
                <a:ea typeface="Georgia"/>
                <a:cs typeface="Georgia"/>
                <a:sym typeface="Georgia"/>
              </a:rPr>
              <a:t>and </a:t>
            </a:r>
            <a:r>
              <a:rPr lang="en" sz="1200" b="1">
                <a:latin typeface="Georgia"/>
                <a:ea typeface="Georgia"/>
                <a:cs typeface="Georgia"/>
                <a:sym typeface="Georgia"/>
              </a:rPr>
              <a:t>priced </a:t>
            </a:r>
            <a:r>
              <a:rPr lang="en" sz="1200">
                <a:latin typeface="Georgia"/>
                <a:ea typeface="Georgia"/>
                <a:cs typeface="Georgia"/>
                <a:sym typeface="Georgia"/>
              </a:rPr>
              <a:t>(</a:t>
            </a:r>
            <a:r>
              <a:rPr lang="en" sz="1200">
                <a:solidFill>
                  <a:schemeClr val="accent1"/>
                </a:solidFill>
                <a:latin typeface="Georgia"/>
                <a:ea typeface="Georgia"/>
                <a:cs typeface="Georgia"/>
                <a:sym typeface="Georgia"/>
              </a:rPr>
              <a:t>Busemeyer &amp; Iversen, 2020</a:t>
            </a:r>
            <a:r>
              <a:rPr lang="en" sz="1200">
                <a:latin typeface="Georgia"/>
                <a:ea typeface="Georgia"/>
                <a:cs typeface="Georgia"/>
                <a:sym typeface="Georgia"/>
              </a:rPr>
              <a:t>)</a:t>
            </a:r>
            <a:endParaRPr sz="1200">
              <a:latin typeface="Georgia"/>
              <a:ea typeface="Georgia"/>
              <a:cs typeface="Georgia"/>
              <a:sym typeface="Georgia"/>
            </a:endParaRPr>
          </a:p>
        </p:txBody>
      </p:sp>
      <p:sp>
        <p:nvSpPr>
          <p:cNvPr id="75" name="Google Shape;7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fontScale="92500" lnSpcReduction="10000"/>
          </a:bodyPr>
          <a:lstStyle/>
          <a:p>
            <a:pPr marL="457200" lvl="0" indent="-310832" algn="l" rtl="0">
              <a:spcBef>
                <a:spcPts val="0"/>
              </a:spcBef>
              <a:spcAft>
                <a:spcPts val="0"/>
              </a:spcAft>
              <a:buSzPct val="100000"/>
              <a:buChar char="●"/>
            </a:pPr>
            <a:r>
              <a:rPr lang="en">
                <a:latin typeface="Georgia"/>
                <a:ea typeface="Georgia"/>
                <a:cs typeface="Georgia"/>
                <a:sym typeface="Georgia"/>
              </a:rPr>
              <a:t>Diversity could affects attitudes as it changes </a:t>
            </a:r>
            <a:r>
              <a:rPr lang="en" b="1">
                <a:latin typeface="Georgia"/>
                <a:ea typeface="Georgia"/>
                <a:cs typeface="Georgia"/>
                <a:sym typeface="Georgia"/>
              </a:rPr>
              <a:t>existential standards </a:t>
            </a:r>
            <a:r>
              <a:rPr lang="en">
                <a:latin typeface="Georgia"/>
                <a:ea typeface="Georgia"/>
                <a:cs typeface="Georgia"/>
                <a:sym typeface="Georgia"/>
              </a:rPr>
              <a:t>as they play a role of</a:t>
            </a:r>
            <a:r>
              <a:rPr lang="en" b="1">
                <a:latin typeface="Georgia"/>
                <a:ea typeface="Georgia"/>
                <a:cs typeface="Georgia"/>
                <a:sym typeface="Georgia"/>
              </a:rPr>
              <a:t> </a:t>
            </a:r>
            <a:r>
              <a:rPr lang="en">
                <a:latin typeface="Georgia"/>
                <a:ea typeface="Georgia"/>
                <a:cs typeface="Georgia"/>
                <a:sym typeface="Georgia"/>
              </a:rPr>
              <a:t>“referential structures” that provide concrete benchmarks for fairness evaluations (</a:t>
            </a:r>
            <a:r>
              <a:rPr lang="en">
                <a:solidFill>
                  <a:schemeClr val="accent1"/>
                </a:solidFill>
                <a:latin typeface="Georgia"/>
                <a:ea typeface="Georgia"/>
                <a:cs typeface="Georgia"/>
                <a:sym typeface="Georgia"/>
              </a:rPr>
              <a:t>Immergut &amp; Schneider, 2020; Shepelak &amp; Alwin, 1986</a:t>
            </a:r>
            <a:r>
              <a:rPr lang="en">
                <a:latin typeface="Georgia"/>
                <a:ea typeface="Georgia"/>
                <a:cs typeface="Georgia"/>
                <a:sym typeface="Georgia"/>
              </a:rPr>
              <a:t>). </a:t>
            </a:r>
            <a:br>
              <a:rPr lang="en">
                <a:latin typeface="Georgia"/>
                <a:ea typeface="Georgia"/>
                <a:cs typeface="Georgia"/>
                <a:sym typeface="Georgia"/>
              </a:rPr>
            </a:br>
            <a:endParaRPr>
              <a:latin typeface="Georgia"/>
              <a:ea typeface="Georgia"/>
              <a:cs typeface="Georgia"/>
              <a:sym typeface="Georgia"/>
            </a:endParaRPr>
          </a:p>
          <a:p>
            <a:pPr marL="457200" lvl="0" indent="-310832" algn="l" rtl="0">
              <a:spcBef>
                <a:spcPts val="0"/>
              </a:spcBef>
              <a:spcAft>
                <a:spcPts val="0"/>
              </a:spcAft>
              <a:buSzPct val="100000"/>
              <a:buChar char="●"/>
            </a:pPr>
            <a:r>
              <a:rPr lang="en">
                <a:latin typeface="Georgia"/>
                <a:ea typeface="Georgia"/>
                <a:cs typeface="Georgia"/>
                <a:sym typeface="Georgia"/>
              </a:rPr>
              <a:t>Diversity offers </a:t>
            </a:r>
            <a:r>
              <a:rPr lang="en" b="1">
                <a:latin typeface="Georgia"/>
                <a:ea typeface="Georgia"/>
                <a:cs typeface="Georgia"/>
                <a:sym typeface="Georgia"/>
              </a:rPr>
              <a:t>non-redundant information and unfamiliar perspectives</a:t>
            </a:r>
            <a:r>
              <a:rPr lang="en">
                <a:latin typeface="Georgia"/>
                <a:ea typeface="Georgia"/>
                <a:cs typeface="Georgia"/>
                <a:sym typeface="Georgia"/>
              </a:rPr>
              <a:t> (</a:t>
            </a:r>
            <a:r>
              <a:rPr lang="en">
                <a:solidFill>
                  <a:schemeClr val="accent1"/>
                </a:solidFill>
                <a:latin typeface="Georgia"/>
                <a:ea typeface="Georgia"/>
                <a:cs typeface="Georgia"/>
                <a:sym typeface="Georgia"/>
              </a:rPr>
              <a:t>Burt, 2004; Vedres, 2022)</a:t>
            </a:r>
            <a:r>
              <a:rPr lang="en">
                <a:latin typeface="Georgia"/>
                <a:ea typeface="Georgia"/>
                <a:cs typeface="Georgia"/>
                <a:sym typeface="Georgia"/>
              </a:rPr>
              <a:t>. </a:t>
            </a:r>
            <a:br>
              <a:rPr lang="en">
                <a:latin typeface="Georgia"/>
                <a:ea typeface="Georgia"/>
                <a:cs typeface="Georgia"/>
                <a:sym typeface="Georgia"/>
              </a:rPr>
            </a:br>
            <a:endParaRPr>
              <a:latin typeface="Georgia"/>
              <a:ea typeface="Georgia"/>
              <a:cs typeface="Georgia"/>
              <a:sym typeface="Georgia"/>
            </a:endParaRPr>
          </a:p>
          <a:p>
            <a:pPr marL="457200" lvl="0" indent="-310832" algn="l" rtl="0">
              <a:spcBef>
                <a:spcPts val="0"/>
              </a:spcBef>
              <a:spcAft>
                <a:spcPts val="0"/>
              </a:spcAft>
              <a:buSzPct val="100000"/>
              <a:buChar char="●"/>
            </a:pPr>
            <a:r>
              <a:rPr lang="en">
                <a:latin typeface="Georgia"/>
                <a:ea typeface="Georgia"/>
                <a:cs typeface="Georgia"/>
                <a:sym typeface="Georgia"/>
              </a:rPr>
              <a:t>As individuals encounter different life experiences, they may develop critical views towards market justice (</a:t>
            </a:r>
            <a:r>
              <a:rPr lang="en" b="1" i="1">
                <a:latin typeface="Georgia"/>
                <a:ea typeface="Georgia"/>
                <a:cs typeface="Georgia"/>
                <a:sym typeface="Georgia"/>
              </a:rPr>
              <a:t>market skepticism hypothesis</a:t>
            </a:r>
            <a:r>
              <a:rPr lang="en">
                <a:latin typeface="Georgia"/>
                <a:ea typeface="Georgia"/>
                <a:cs typeface="Georgia"/>
                <a:sym typeface="Georgia"/>
              </a:rPr>
              <a:t>)</a:t>
            </a:r>
            <a:endParaRPr>
              <a:latin typeface="Georgia"/>
              <a:ea typeface="Georgia"/>
              <a:cs typeface="Georgia"/>
              <a:sym typeface="Georgia"/>
            </a:endParaRPr>
          </a:p>
        </p:txBody>
      </p:sp>
      <p:sp>
        <p:nvSpPr>
          <p:cNvPr id="81" name="Google Shape;81;p1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latin typeface="Georgia"/>
                <a:ea typeface="Georgia"/>
                <a:cs typeface="Georgia"/>
                <a:sym typeface="Georgia"/>
              </a:rPr>
              <a:t>By providing access to information—in this case, diversity—networks are likely to contribute to </a:t>
            </a:r>
            <a:r>
              <a:rPr lang="en" b="1">
                <a:latin typeface="Georgia"/>
                <a:ea typeface="Georgia"/>
                <a:cs typeface="Georgia"/>
                <a:sym typeface="Georgia"/>
              </a:rPr>
              <a:t>social learning processes  </a:t>
            </a:r>
            <a:r>
              <a:rPr lang="en">
                <a:latin typeface="Georgia"/>
                <a:ea typeface="Georgia"/>
                <a:cs typeface="Georgia"/>
                <a:sym typeface="Georgia"/>
              </a:rPr>
              <a:t>(</a:t>
            </a:r>
            <a:r>
              <a:rPr lang="en">
                <a:solidFill>
                  <a:schemeClr val="accent1"/>
                </a:solidFill>
                <a:latin typeface="Georgia"/>
                <a:ea typeface="Georgia"/>
                <a:cs typeface="Georgia"/>
                <a:sym typeface="Georgia"/>
              </a:rPr>
              <a:t>Druckman &amp; Lupia, 2000; Lin, 2001</a:t>
            </a:r>
            <a:r>
              <a:rPr lang="en">
                <a:latin typeface="Georgia"/>
                <a:ea typeface="Georgia"/>
                <a:cs typeface="Georgia"/>
                <a:sym typeface="Georgia"/>
              </a:rPr>
              <a:t>). </a:t>
            </a:r>
            <a:br>
              <a:rPr lang="en">
                <a:latin typeface="Georgia"/>
                <a:ea typeface="Georgia"/>
                <a:cs typeface="Georgia"/>
                <a:sym typeface="Georgia"/>
              </a:rPr>
            </a:br>
            <a:endParaRPr>
              <a:latin typeface="Georgia"/>
              <a:ea typeface="Georgia"/>
              <a:cs typeface="Georgia"/>
              <a:sym typeface="Georgia"/>
            </a:endParaRPr>
          </a:p>
          <a:p>
            <a:pPr marL="457200" lvl="0" indent="-317500" algn="l" rtl="0">
              <a:spcBef>
                <a:spcPts val="0"/>
              </a:spcBef>
              <a:spcAft>
                <a:spcPts val="0"/>
              </a:spcAft>
              <a:buSzPts val="1400"/>
              <a:buChar char="●"/>
            </a:pPr>
            <a:r>
              <a:rPr lang="en">
                <a:latin typeface="Georgia"/>
                <a:ea typeface="Georgia"/>
                <a:cs typeface="Georgia"/>
                <a:sym typeface="Georgia"/>
              </a:rPr>
              <a:t>Networks as a </a:t>
            </a:r>
            <a:r>
              <a:rPr lang="en" b="1">
                <a:latin typeface="Georgia"/>
                <a:ea typeface="Georgia"/>
                <a:cs typeface="Georgia"/>
                <a:sym typeface="Georgia"/>
              </a:rPr>
              <a:t>“social convoy”</a:t>
            </a:r>
            <a:r>
              <a:rPr lang="en">
                <a:latin typeface="Georgia"/>
                <a:ea typeface="Georgia"/>
                <a:cs typeface="Georgia"/>
                <a:sym typeface="Georgia"/>
              </a:rPr>
              <a:t> (</a:t>
            </a:r>
            <a:r>
              <a:rPr lang="en">
                <a:solidFill>
                  <a:schemeClr val="accent1"/>
                </a:solidFill>
                <a:latin typeface="Georgia"/>
                <a:ea typeface="Georgia"/>
                <a:cs typeface="Georgia"/>
                <a:sym typeface="Georgia"/>
              </a:rPr>
              <a:t>Kahn and Antonucci, 1980</a:t>
            </a:r>
            <a:r>
              <a:rPr lang="en">
                <a:latin typeface="Georgia"/>
                <a:ea typeface="Georgia"/>
                <a:cs typeface="Georgia"/>
                <a:sym typeface="Georgia"/>
              </a:rPr>
              <a:t>) that structure information and support </a:t>
            </a:r>
            <a:r>
              <a:rPr lang="en" b="1">
                <a:latin typeface="Georgia"/>
                <a:ea typeface="Georgia"/>
                <a:cs typeface="Georgia"/>
                <a:sym typeface="Georgia"/>
              </a:rPr>
              <a:t>over the life course</a:t>
            </a:r>
            <a:r>
              <a:rPr lang="en">
                <a:latin typeface="Georgia"/>
                <a:ea typeface="Georgia"/>
                <a:cs typeface="Georgia"/>
                <a:sym typeface="Georgia"/>
              </a:rPr>
              <a:t> (</a:t>
            </a:r>
            <a:r>
              <a:rPr lang="en">
                <a:solidFill>
                  <a:schemeClr val="accent1"/>
                </a:solidFill>
                <a:latin typeface="Georgia"/>
                <a:ea typeface="Georgia"/>
                <a:cs typeface="Georgia"/>
                <a:sym typeface="Georgia"/>
              </a:rPr>
              <a:t>Hollstein, 2023</a:t>
            </a:r>
            <a:r>
              <a:rPr lang="en">
                <a:latin typeface="Georgia"/>
                <a:ea typeface="Georgia"/>
                <a:cs typeface="Georgia"/>
                <a:sym typeface="Georgia"/>
              </a:rPr>
              <a:t>). </a:t>
            </a:r>
            <a:br>
              <a:rPr lang="en">
                <a:latin typeface="Georgia"/>
                <a:ea typeface="Georgia"/>
                <a:cs typeface="Georgia"/>
                <a:sym typeface="Georgia"/>
              </a:rPr>
            </a:br>
            <a:endParaRPr>
              <a:latin typeface="Georgia"/>
              <a:ea typeface="Georgia"/>
              <a:cs typeface="Georgia"/>
              <a:sym typeface="Georgia"/>
            </a:endParaRPr>
          </a:p>
          <a:p>
            <a:pPr marL="457200" lvl="0" indent="-317500" algn="l" rtl="0">
              <a:spcBef>
                <a:spcPts val="0"/>
              </a:spcBef>
              <a:spcAft>
                <a:spcPts val="0"/>
              </a:spcAft>
              <a:buSzPts val="1400"/>
              <a:buChar char="●"/>
            </a:pPr>
            <a:r>
              <a:rPr lang="en">
                <a:latin typeface="Georgia"/>
                <a:ea typeface="Georgia"/>
                <a:cs typeface="Georgia"/>
                <a:sym typeface="Georgia"/>
              </a:rPr>
              <a:t>It is assumed that </a:t>
            </a:r>
            <a:r>
              <a:rPr lang="en" b="1">
                <a:latin typeface="Georgia"/>
                <a:ea typeface="Georgia"/>
                <a:cs typeface="Georgia"/>
                <a:sym typeface="Georgia"/>
              </a:rPr>
              <a:t>weak ties</a:t>
            </a:r>
            <a:r>
              <a:rPr lang="en">
                <a:latin typeface="Georgia"/>
                <a:ea typeface="Georgia"/>
                <a:cs typeface="Georgia"/>
                <a:sym typeface="Georgia"/>
              </a:rPr>
              <a:t> tend to change more over time as they are fed by diverse contacts (</a:t>
            </a:r>
            <a:r>
              <a:rPr lang="en">
                <a:solidFill>
                  <a:schemeClr val="accent1"/>
                </a:solidFill>
                <a:latin typeface="Georgia"/>
                <a:ea typeface="Georgia"/>
                <a:cs typeface="Georgia"/>
                <a:sym typeface="Georgia"/>
              </a:rPr>
              <a:t>Granovetter, 1973</a:t>
            </a:r>
            <a:r>
              <a:rPr lang="en">
                <a:latin typeface="Georgia"/>
                <a:ea typeface="Georgia"/>
                <a:cs typeface="Georgia"/>
                <a:sym typeface="Georgia"/>
              </a:rPr>
              <a:t>). </a:t>
            </a:r>
            <a:endParaRPr>
              <a:latin typeface="Georgia"/>
              <a:ea typeface="Georgia"/>
              <a:cs typeface="Georgia"/>
              <a:sym typeface="Georgia"/>
            </a:endParaRPr>
          </a:p>
        </p:txBody>
      </p:sp>
      <p:sp>
        <p:nvSpPr>
          <p:cNvPr id="82" name="Google Shape;8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This study: changing networks, changing attitudes?</a:t>
            </a:r>
            <a:endParaRPr dirty="0"/>
          </a:p>
        </p:txBody>
      </p:sp>
      <p:sp>
        <p:nvSpPr>
          <p:cNvPr id="83" name="Google Shape;83;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
        <p:nvSpPr>
          <p:cNvPr id="84" name="Google Shape;84;p16"/>
          <p:cNvSpPr txBox="1"/>
          <p:nvPr/>
        </p:nvSpPr>
        <p:spPr>
          <a:xfrm>
            <a:off x="1287750" y="4536025"/>
            <a:ext cx="65685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b="1">
                <a:solidFill>
                  <a:schemeClr val="dk2"/>
                </a:solidFill>
                <a:latin typeface="Georgia"/>
                <a:ea typeface="Georgia"/>
                <a:cs typeface="Georgia"/>
                <a:sym typeface="Georgia"/>
              </a:rPr>
              <a:t>H1:</a:t>
            </a:r>
            <a:r>
              <a:rPr lang="en">
                <a:solidFill>
                  <a:schemeClr val="dk2"/>
                </a:solidFill>
                <a:latin typeface="Georgia"/>
                <a:ea typeface="Georgia"/>
                <a:cs typeface="Georgia"/>
                <a:sym typeface="Georgia"/>
              </a:rPr>
              <a:t> the greater the changes in network diversity, the less support market justice.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en" b="1" dirty="0">
                <a:solidFill>
                  <a:srgbClr val="980000"/>
                </a:solidFill>
                <a:latin typeface="Georgia"/>
                <a:ea typeface="Georgia"/>
                <a:cs typeface="Georgia"/>
                <a:sym typeface="Georgia"/>
              </a:rPr>
              <a:t>Recent history</a:t>
            </a:r>
            <a:endParaRPr b="1" dirty="0">
              <a:solidFill>
                <a:srgbClr val="980000"/>
              </a:solidFill>
              <a:latin typeface="Georgia"/>
              <a:ea typeface="Georgia"/>
              <a:cs typeface="Georgia"/>
              <a:sym typeface="Georgia"/>
            </a:endParaRPr>
          </a:p>
          <a:p>
            <a:pPr marL="457200" lvl="0" indent="-317500" algn="l" rtl="0">
              <a:lnSpc>
                <a:spcPct val="95000"/>
              </a:lnSpc>
              <a:spcBef>
                <a:spcPts val="1200"/>
              </a:spcBef>
              <a:spcAft>
                <a:spcPts val="0"/>
              </a:spcAft>
              <a:buSzPts val="1400"/>
              <a:buFont typeface="Georgia"/>
              <a:buChar char="●"/>
            </a:pPr>
            <a:r>
              <a:rPr lang="en" dirty="0">
                <a:latin typeface="Georgia"/>
                <a:ea typeface="Georgia"/>
                <a:cs typeface="Georgia"/>
                <a:sym typeface="Georgia"/>
              </a:rPr>
              <a:t>Structural reforms mainly in period of adjustment in the 1980s (</a:t>
            </a:r>
            <a:r>
              <a:rPr lang="en" dirty="0">
                <a:solidFill>
                  <a:schemeClr val="accent1"/>
                </a:solidFill>
                <a:latin typeface="Georgia"/>
                <a:ea typeface="Georgia"/>
                <a:cs typeface="Georgia"/>
                <a:sym typeface="Georgia"/>
              </a:rPr>
              <a:t>Arrizabalo, 1995</a:t>
            </a:r>
            <a:r>
              <a:rPr lang="en" dirty="0">
                <a:latin typeface="Georgia"/>
                <a:ea typeface="Georgia"/>
                <a:cs typeface="Georgia"/>
                <a:sym typeface="Georgia"/>
              </a:rPr>
              <a:t>) </a:t>
            </a:r>
            <a:br>
              <a:rPr lang="en" dirty="0">
                <a:latin typeface="Georgia"/>
                <a:ea typeface="Georgia"/>
                <a:cs typeface="Georgia"/>
                <a:sym typeface="Georgia"/>
              </a:rPr>
            </a:br>
            <a:endParaRPr dirty="0">
              <a:latin typeface="Georgia"/>
              <a:ea typeface="Georgia"/>
              <a:cs typeface="Georgia"/>
              <a:sym typeface="Georgia"/>
            </a:endParaRPr>
          </a:p>
          <a:p>
            <a:pPr marL="457200" lvl="0" indent="-317500" algn="l" rtl="0">
              <a:lnSpc>
                <a:spcPct val="95000"/>
              </a:lnSpc>
              <a:spcBef>
                <a:spcPts val="0"/>
              </a:spcBef>
              <a:spcAft>
                <a:spcPts val="0"/>
              </a:spcAft>
              <a:buSzPts val="1400"/>
              <a:buFont typeface="Georgia"/>
              <a:buChar char="●"/>
            </a:pPr>
            <a:r>
              <a:rPr lang="en" dirty="0">
                <a:latin typeface="Georgia"/>
                <a:ea typeface="Georgia"/>
                <a:cs typeface="Georgia"/>
                <a:sym typeface="Georgia"/>
              </a:rPr>
              <a:t>As a result, the "size" of the welfare state was reduced, encouraging the private sector by liberalising or subsidising private services (</a:t>
            </a:r>
            <a:r>
              <a:rPr lang="en" dirty="0">
                <a:solidFill>
                  <a:schemeClr val="accent1"/>
                </a:solidFill>
                <a:latin typeface="Georgia"/>
                <a:ea typeface="Georgia"/>
                <a:cs typeface="Georgia"/>
                <a:sym typeface="Georgia"/>
              </a:rPr>
              <a:t>Ferre, 2023</a:t>
            </a:r>
            <a:r>
              <a:rPr lang="en" dirty="0">
                <a:latin typeface="Georgia"/>
                <a:ea typeface="Georgia"/>
                <a:cs typeface="Georgia"/>
                <a:sym typeface="Georgia"/>
              </a:rPr>
              <a:t>)</a:t>
            </a:r>
            <a:br>
              <a:rPr lang="en" dirty="0">
                <a:latin typeface="Georgia"/>
                <a:ea typeface="Georgia"/>
                <a:cs typeface="Georgia"/>
                <a:sym typeface="Georgia"/>
              </a:rPr>
            </a:br>
            <a:endParaRPr dirty="0">
              <a:latin typeface="Georgia"/>
              <a:ea typeface="Georgia"/>
              <a:cs typeface="Georgia"/>
              <a:sym typeface="Georgia"/>
            </a:endParaRPr>
          </a:p>
          <a:p>
            <a:pPr marL="457200" lvl="0" indent="-317500" algn="l" rtl="0">
              <a:lnSpc>
                <a:spcPct val="95000"/>
              </a:lnSpc>
              <a:spcBef>
                <a:spcPts val="0"/>
              </a:spcBef>
              <a:spcAft>
                <a:spcPts val="0"/>
              </a:spcAft>
              <a:buSzPts val="1400"/>
              <a:buChar char="●"/>
            </a:pPr>
            <a:r>
              <a:rPr lang="en" dirty="0">
                <a:latin typeface="Georgia"/>
                <a:ea typeface="Georgia"/>
                <a:cs typeface="Georgia"/>
                <a:sym typeface="Georgia"/>
              </a:rPr>
              <a:t>On the basis of social policy design (</a:t>
            </a:r>
            <a:r>
              <a:rPr lang="en" b="1" dirty="0">
                <a:latin typeface="Georgia"/>
                <a:ea typeface="Georgia"/>
                <a:cs typeface="Georgia"/>
                <a:sym typeface="Georgia"/>
              </a:rPr>
              <a:t>inclusiveness</a:t>
            </a:r>
            <a:r>
              <a:rPr lang="en" dirty="0">
                <a:latin typeface="Georgia"/>
                <a:ea typeface="Georgia"/>
                <a:cs typeface="Georgia"/>
                <a:sym typeface="Georgia"/>
              </a:rPr>
              <a:t>, </a:t>
            </a:r>
            <a:r>
              <a:rPr lang="en" b="1" dirty="0">
                <a:latin typeface="Georgia"/>
                <a:ea typeface="Georgia"/>
                <a:cs typeface="Georgia"/>
                <a:sym typeface="Georgia"/>
              </a:rPr>
              <a:t>generosity </a:t>
            </a:r>
            <a:r>
              <a:rPr lang="en" dirty="0">
                <a:latin typeface="Georgia"/>
                <a:ea typeface="Georgia"/>
                <a:cs typeface="Georgia"/>
                <a:sym typeface="Georgia"/>
              </a:rPr>
              <a:t>and </a:t>
            </a:r>
            <a:r>
              <a:rPr lang="en" b="1" dirty="0">
                <a:latin typeface="Georgia"/>
                <a:ea typeface="Georgia"/>
                <a:cs typeface="Georgia"/>
                <a:sym typeface="Georgia"/>
              </a:rPr>
              <a:t>equity</a:t>
            </a:r>
            <a:r>
              <a:rPr lang="en" dirty="0">
                <a:latin typeface="Georgia"/>
                <a:ea typeface="Georgia"/>
                <a:cs typeface="Georgia"/>
                <a:sym typeface="Georgia"/>
              </a:rPr>
              <a:t>) it has been characterised as a closer to a "liberal" social policy regime (</a:t>
            </a:r>
            <a:r>
              <a:rPr lang="en" dirty="0">
                <a:solidFill>
                  <a:schemeClr val="accent1"/>
                </a:solidFill>
                <a:latin typeface="Georgia"/>
                <a:ea typeface="Georgia"/>
                <a:cs typeface="Georgia"/>
                <a:sym typeface="Georgia"/>
              </a:rPr>
              <a:t>Huber &amp; Stephens, 2012</a:t>
            </a:r>
            <a:r>
              <a:rPr lang="en" dirty="0">
                <a:latin typeface="Georgia"/>
                <a:ea typeface="Georgia"/>
                <a:cs typeface="Georgia"/>
                <a:sym typeface="Georgia"/>
              </a:rPr>
              <a:t>)</a:t>
            </a:r>
            <a:endParaRPr dirty="0">
              <a:latin typeface="Georgia"/>
              <a:ea typeface="Georgia"/>
              <a:cs typeface="Georgia"/>
              <a:sym typeface="Georgia"/>
            </a:endParaRPr>
          </a:p>
        </p:txBody>
      </p:sp>
      <p:sp>
        <p:nvSpPr>
          <p:cNvPr id="90" name="Google Shape;9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Chile: unequal but prosperous </a:t>
            </a:r>
            <a:endParaRPr dirty="0"/>
          </a:p>
        </p:txBody>
      </p:sp>
      <p:sp>
        <p:nvSpPr>
          <p:cNvPr id="91" name="Google Shape;9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
        <p:nvSpPr>
          <p:cNvPr id="92" name="Google Shape;92;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980000"/>
                </a:solidFill>
                <a:latin typeface="Georgia"/>
                <a:ea typeface="Georgia"/>
                <a:cs typeface="Georgia"/>
                <a:sym typeface="Georgia"/>
              </a:rPr>
              <a:t>Chile today</a:t>
            </a:r>
            <a:endParaRPr b="1" dirty="0">
              <a:solidFill>
                <a:srgbClr val="980000"/>
              </a:solidFill>
              <a:latin typeface="Georgia"/>
              <a:ea typeface="Georgia"/>
              <a:cs typeface="Georgia"/>
              <a:sym typeface="Georgia"/>
            </a:endParaRPr>
          </a:p>
          <a:p>
            <a:pPr marL="457200" lvl="0" indent="-304800" algn="l" rtl="0">
              <a:spcBef>
                <a:spcPts val="1200"/>
              </a:spcBef>
              <a:spcAft>
                <a:spcPts val="0"/>
              </a:spcAft>
              <a:buClr>
                <a:schemeClr val="dk1"/>
              </a:buClr>
              <a:buSzPts val="1200"/>
              <a:buFont typeface="Georgia"/>
              <a:buChar char="●"/>
            </a:pPr>
            <a:r>
              <a:rPr lang="en" sz="1200" dirty="0">
                <a:solidFill>
                  <a:schemeClr val="dk1"/>
                </a:solidFill>
                <a:latin typeface="Georgia"/>
                <a:ea typeface="Georgia"/>
                <a:cs typeface="Georgia"/>
                <a:sym typeface="Georgia"/>
              </a:rPr>
              <a:t>In 2024, Chile has been classified as a </a:t>
            </a:r>
            <a:r>
              <a:rPr lang="en" sz="1200" b="1" dirty="0">
                <a:solidFill>
                  <a:schemeClr val="dk1"/>
                </a:solidFill>
                <a:latin typeface="Georgia"/>
                <a:ea typeface="Georgia"/>
                <a:cs typeface="Georgia"/>
                <a:sym typeface="Georgia"/>
              </a:rPr>
              <a:t>middle-income country </a:t>
            </a:r>
            <a:r>
              <a:rPr lang="en" sz="1200" dirty="0">
                <a:solidFill>
                  <a:schemeClr val="dk1"/>
                </a:solidFill>
                <a:latin typeface="Georgia"/>
                <a:ea typeface="Georgia"/>
                <a:cs typeface="Georgia"/>
                <a:sym typeface="Georgia"/>
              </a:rPr>
              <a:t>(14,226.5 per cap. U$2015) with a </a:t>
            </a:r>
            <a:r>
              <a:rPr lang="en" sz="1200" b="1" dirty="0">
                <a:solidFill>
                  <a:schemeClr val="dk1"/>
                </a:solidFill>
                <a:latin typeface="Georgia"/>
                <a:ea typeface="Georgia"/>
                <a:cs typeface="Georgia"/>
                <a:sym typeface="Georgia"/>
              </a:rPr>
              <a:t>low poverty</a:t>
            </a:r>
            <a:r>
              <a:rPr lang="en" sz="1200" dirty="0">
                <a:solidFill>
                  <a:schemeClr val="dk1"/>
                </a:solidFill>
                <a:latin typeface="Georgia"/>
                <a:ea typeface="Georgia"/>
                <a:cs typeface="Georgia"/>
                <a:sym typeface="Georgia"/>
              </a:rPr>
              <a:t> rate (6.5%).</a:t>
            </a:r>
            <a:br>
              <a:rPr lang="en" sz="1200" dirty="0">
                <a:solidFill>
                  <a:schemeClr val="dk1"/>
                </a:solidFill>
                <a:latin typeface="Georgia"/>
                <a:ea typeface="Georgia"/>
                <a:cs typeface="Georgia"/>
                <a:sym typeface="Georgia"/>
              </a:rPr>
            </a:br>
            <a:endParaRPr sz="1200" dirty="0">
              <a:solidFill>
                <a:schemeClr val="dk1"/>
              </a:solidFill>
              <a:latin typeface="Georgia"/>
              <a:ea typeface="Georgia"/>
              <a:cs typeface="Georgia"/>
              <a:sym typeface="Georgia"/>
            </a:endParaRPr>
          </a:p>
          <a:p>
            <a:pPr marL="457200" lvl="0" indent="-304800" algn="l" rtl="0">
              <a:spcBef>
                <a:spcPts val="0"/>
              </a:spcBef>
              <a:spcAft>
                <a:spcPts val="0"/>
              </a:spcAft>
              <a:buClr>
                <a:schemeClr val="dk1"/>
              </a:buClr>
              <a:buSzPts val="1200"/>
              <a:buFont typeface="Georgia"/>
              <a:buChar char="●"/>
            </a:pPr>
            <a:r>
              <a:rPr lang="en" sz="1200" dirty="0">
                <a:solidFill>
                  <a:schemeClr val="dk1"/>
                </a:solidFill>
                <a:latin typeface="Georgia"/>
                <a:ea typeface="Georgia"/>
                <a:cs typeface="Georgia"/>
                <a:sym typeface="Georgia"/>
              </a:rPr>
              <a:t>However, in terms of income distribution it shows a </a:t>
            </a:r>
            <a:r>
              <a:rPr lang="en" sz="1200" b="1" dirty="0">
                <a:solidFill>
                  <a:schemeClr val="dk1"/>
                </a:solidFill>
                <a:latin typeface="Georgia"/>
                <a:ea typeface="Georgia"/>
                <a:cs typeface="Georgia"/>
                <a:sym typeface="Georgia"/>
              </a:rPr>
              <a:t>high level of income inequality</a:t>
            </a:r>
            <a:r>
              <a:rPr lang="en" sz="1200" dirty="0">
                <a:solidFill>
                  <a:schemeClr val="dk1"/>
                </a:solidFill>
                <a:latin typeface="Georgia"/>
                <a:ea typeface="Georgia"/>
                <a:cs typeface="Georgia"/>
                <a:sym typeface="Georgia"/>
              </a:rPr>
              <a:t> </a:t>
            </a:r>
            <a:br>
              <a:rPr lang="en" sz="1200" dirty="0">
                <a:solidFill>
                  <a:schemeClr val="dk1"/>
                </a:solidFill>
                <a:latin typeface="Georgia"/>
                <a:ea typeface="Georgia"/>
                <a:cs typeface="Georgia"/>
                <a:sym typeface="Georgia"/>
              </a:rPr>
            </a:br>
            <a:r>
              <a:rPr lang="en" sz="1200" dirty="0">
                <a:solidFill>
                  <a:schemeClr val="dk1"/>
                </a:solidFill>
                <a:latin typeface="Georgia"/>
                <a:ea typeface="Georgia"/>
                <a:cs typeface="Georgia"/>
                <a:sym typeface="Georgia"/>
              </a:rPr>
              <a:t>(Gini = 0.47; P90/10 = 15.9) and </a:t>
            </a:r>
            <a:r>
              <a:rPr lang="en" sz="1200" b="1" dirty="0">
                <a:solidFill>
                  <a:schemeClr val="dk1"/>
                </a:solidFill>
                <a:latin typeface="Georgia"/>
                <a:ea typeface="Georgia"/>
                <a:cs typeface="Georgia"/>
                <a:sym typeface="Georgia"/>
              </a:rPr>
              <a:t>modest levels of redistribution </a:t>
            </a:r>
            <a:r>
              <a:rPr lang="en" sz="1200" dirty="0">
                <a:solidFill>
                  <a:schemeClr val="dk1"/>
                </a:solidFill>
                <a:latin typeface="Georgia"/>
                <a:ea typeface="Georgia"/>
                <a:cs typeface="Georgia"/>
                <a:sym typeface="Georgia"/>
              </a:rPr>
              <a:t>(5%)</a:t>
            </a:r>
            <a:br>
              <a:rPr lang="en" sz="1200" dirty="0">
                <a:solidFill>
                  <a:schemeClr val="dk1"/>
                </a:solidFill>
                <a:latin typeface="Georgia"/>
                <a:ea typeface="Georgia"/>
                <a:cs typeface="Georgia"/>
                <a:sym typeface="Georgia"/>
              </a:rPr>
            </a:br>
            <a:endParaRPr sz="1200" dirty="0">
              <a:solidFill>
                <a:schemeClr val="dk1"/>
              </a:solidFill>
              <a:latin typeface="Georgia"/>
              <a:ea typeface="Georgia"/>
              <a:cs typeface="Georgia"/>
              <a:sym typeface="Georgia"/>
            </a:endParaRPr>
          </a:p>
          <a:p>
            <a:pPr marL="457200" lvl="0" indent="-304800" algn="l" rtl="0">
              <a:spcBef>
                <a:spcPts val="0"/>
              </a:spcBef>
              <a:spcAft>
                <a:spcPts val="0"/>
              </a:spcAft>
              <a:buClr>
                <a:schemeClr val="dk1"/>
              </a:buClr>
              <a:buSzPts val="1200"/>
              <a:buFont typeface="Georgia"/>
              <a:buChar char="●"/>
            </a:pPr>
            <a:r>
              <a:rPr lang="en" sz="1200" dirty="0">
                <a:solidFill>
                  <a:schemeClr val="dk1"/>
                </a:solidFill>
                <a:latin typeface="Georgia"/>
                <a:ea typeface="Georgia"/>
                <a:cs typeface="Georgia"/>
                <a:sym typeface="Georgia"/>
              </a:rPr>
              <a:t>Important: Chile shows a </a:t>
            </a:r>
            <a:r>
              <a:rPr lang="en" sz="1200" b="1" dirty="0">
                <a:solidFill>
                  <a:schemeClr val="dk1"/>
                </a:solidFill>
                <a:latin typeface="Georgia"/>
                <a:ea typeface="Georgia"/>
                <a:cs typeface="Georgia"/>
                <a:sym typeface="Georgia"/>
              </a:rPr>
              <a:t>high-presence </a:t>
            </a:r>
            <a:r>
              <a:rPr lang="en" sz="1200" dirty="0">
                <a:solidFill>
                  <a:schemeClr val="dk1"/>
                </a:solidFill>
                <a:latin typeface="Georgia"/>
                <a:ea typeface="Georgia"/>
                <a:cs typeface="Georgia"/>
                <a:sym typeface="Georgia"/>
              </a:rPr>
              <a:t>of </a:t>
            </a:r>
            <a:r>
              <a:rPr lang="en" sz="1200" b="1" dirty="0">
                <a:solidFill>
                  <a:schemeClr val="dk1"/>
                </a:solidFill>
                <a:latin typeface="Georgia"/>
                <a:ea typeface="Georgia"/>
                <a:cs typeface="Georgia"/>
                <a:sym typeface="Georgia"/>
              </a:rPr>
              <a:t>private-based </a:t>
            </a:r>
            <a:r>
              <a:rPr lang="en" sz="1200" dirty="0">
                <a:solidFill>
                  <a:schemeClr val="dk1"/>
                </a:solidFill>
                <a:latin typeface="Georgia"/>
                <a:ea typeface="Georgia"/>
                <a:cs typeface="Georgia"/>
                <a:sym typeface="Georgia"/>
              </a:rPr>
              <a:t>provision of welfare services (</a:t>
            </a:r>
            <a:r>
              <a:rPr lang="en" sz="1200" i="1" dirty="0">
                <a:solidFill>
                  <a:schemeClr val="dk1"/>
                </a:solidFill>
                <a:latin typeface="Georgia"/>
                <a:ea typeface="Georgia"/>
                <a:cs typeface="Georgia"/>
                <a:sym typeface="Georgia"/>
              </a:rPr>
              <a:t>see next slide</a:t>
            </a:r>
            <a:r>
              <a:rPr lang="en" sz="1200" dirty="0">
                <a:solidFill>
                  <a:schemeClr val="dk1"/>
                </a:solidFill>
                <a:latin typeface="Georgia"/>
                <a:ea typeface="Georgia"/>
                <a:cs typeface="Georgia"/>
                <a:sym typeface="Georgia"/>
              </a:rPr>
              <a:t>)</a:t>
            </a:r>
            <a:endParaRPr sz="1500"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pic>
        <p:nvPicPr>
          <p:cNvPr id="98" name="Google Shape;98;p18"/>
          <p:cNvPicPr preferRelativeResize="0"/>
          <p:nvPr/>
        </p:nvPicPr>
        <p:blipFill>
          <a:blip r:embed="rId3">
            <a:alphaModFix/>
          </a:blip>
          <a:stretch>
            <a:fillRect/>
          </a:stretch>
        </p:blipFill>
        <p:spPr>
          <a:xfrm>
            <a:off x="0" y="152400"/>
            <a:ext cx="2956983" cy="4838699"/>
          </a:xfrm>
          <a:prstGeom prst="rect">
            <a:avLst/>
          </a:prstGeom>
          <a:noFill/>
          <a:ln>
            <a:noFill/>
          </a:ln>
        </p:spPr>
      </p:pic>
      <p:pic>
        <p:nvPicPr>
          <p:cNvPr id="99" name="Google Shape;99;p18"/>
          <p:cNvPicPr preferRelativeResize="0"/>
          <p:nvPr/>
        </p:nvPicPr>
        <p:blipFill>
          <a:blip r:embed="rId4">
            <a:alphaModFix/>
          </a:blip>
          <a:stretch>
            <a:fillRect/>
          </a:stretch>
        </p:blipFill>
        <p:spPr>
          <a:xfrm>
            <a:off x="3109383" y="152400"/>
            <a:ext cx="2956983" cy="4838699"/>
          </a:xfrm>
          <a:prstGeom prst="rect">
            <a:avLst/>
          </a:prstGeom>
          <a:noFill/>
          <a:ln>
            <a:noFill/>
          </a:ln>
        </p:spPr>
      </p:pic>
      <p:pic>
        <p:nvPicPr>
          <p:cNvPr id="100" name="Google Shape;100;p18"/>
          <p:cNvPicPr preferRelativeResize="0"/>
          <p:nvPr/>
        </p:nvPicPr>
        <p:blipFill>
          <a:blip r:embed="rId3">
            <a:alphaModFix amt="10000"/>
          </a:blip>
          <a:stretch>
            <a:fillRect/>
          </a:stretch>
        </p:blipFill>
        <p:spPr>
          <a:xfrm>
            <a:off x="6773" y="152400"/>
            <a:ext cx="2956983" cy="4838699"/>
          </a:xfrm>
          <a:prstGeom prst="rect">
            <a:avLst/>
          </a:prstGeom>
          <a:noFill/>
          <a:ln>
            <a:noFill/>
          </a:ln>
        </p:spPr>
      </p:pic>
      <p:pic>
        <p:nvPicPr>
          <p:cNvPr id="101" name="Google Shape;101;p18"/>
          <p:cNvPicPr preferRelativeResize="0"/>
          <p:nvPr/>
        </p:nvPicPr>
        <p:blipFill>
          <a:blip r:embed="rId4">
            <a:alphaModFix amt="10000"/>
          </a:blip>
          <a:stretch>
            <a:fillRect/>
          </a:stretch>
        </p:blipFill>
        <p:spPr>
          <a:xfrm>
            <a:off x="3109383" y="152400"/>
            <a:ext cx="2956983" cy="4838699"/>
          </a:xfrm>
          <a:prstGeom prst="rect">
            <a:avLst/>
          </a:prstGeom>
          <a:noFill/>
          <a:ln>
            <a:noFill/>
          </a:ln>
        </p:spPr>
      </p:pic>
      <p:pic>
        <p:nvPicPr>
          <p:cNvPr id="102" name="Google Shape;102;p18"/>
          <p:cNvPicPr preferRelativeResize="0"/>
          <p:nvPr/>
        </p:nvPicPr>
        <p:blipFill>
          <a:blip r:embed="rId5">
            <a:alphaModFix amt="10000"/>
          </a:blip>
          <a:stretch>
            <a:fillRect/>
          </a:stretch>
        </p:blipFill>
        <p:spPr>
          <a:xfrm>
            <a:off x="6218776" y="218125"/>
            <a:ext cx="2752061" cy="4838699"/>
          </a:xfrm>
          <a:prstGeom prst="rect">
            <a:avLst/>
          </a:prstGeom>
          <a:noFill/>
          <a:ln>
            <a:noFill/>
          </a:ln>
        </p:spPr>
      </p:pic>
      <p:pic>
        <p:nvPicPr>
          <p:cNvPr id="103" name="Google Shape;103;p18"/>
          <p:cNvPicPr preferRelativeResize="0"/>
          <p:nvPr/>
        </p:nvPicPr>
        <p:blipFill>
          <a:blip r:embed="rId5">
            <a:alphaModFix/>
          </a:blip>
          <a:stretch>
            <a:fillRect/>
          </a:stretch>
        </p:blipFill>
        <p:spPr>
          <a:xfrm>
            <a:off x="6212003" y="136849"/>
            <a:ext cx="2752061" cy="4838699"/>
          </a:xfrm>
          <a:prstGeom prst="rect">
            <a:avLst/>
          </a:prstGeom>
          <a:noFill/>
          <a:ln>
            <a:noFill/>
          </a:ln>
        </p:spPr>
      </p:pic>
    </p:spTree>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1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
                                        <p:tgtEl>
                                          <p:spTgt spid="98"/>
                                        </p:tgtEl>
                                      </p:cBhvr>
                                    </p:animEffect>
                                    <p:set>
                                      <p:cBhvr>
                                        <p:cTn id="12" dur="1" fill="hold">
                                          <p:stCondLst>
                                            <p:cond delay="100"/>
                                          </p:stCondLst>
                                        </p:cTn>
                                        <p:tgtEl>
                                          <p:spTgt spid="9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fade">
                                      <p:cBhvr>
                                        <p:cTn id="17" dur="1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100"/>
                                        <p:tgtEl>
                                          <p:spTgt spid="99"/>
                                        </p:tgtEl>
                                      </p:cBhvr>
                                    </p:animEffect>
                                    <p:set>
                                      <p:cBhvr>
                                        <p:cTn id="22" dur="1" fill="hold">
                                          <p:stCondLst>
                                            <p:cond delay="100"/>
                                          </p:stCondLst>
                                        </p:cTn>
                                        <p:tgtEl>
                                          <p:spTgt spid="9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1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Clr>
                <a:schemeClr val="dk1"/>
              </a:buClr>
              <a:buSzPct val="30555"/>
              <a:buFont typeface="Arial"/>
              <a:buNone/>
            </a:pPr>
            <a:r>
              <a:rPr lang="en" i="1" dirty="0">
                <a:latin typeface="Georgia"/>
                <a:ea typeface="Georgia"/>
                <a:cs typeface="Georgia"/>
                <a:sym typeface="Georgia"/>
              </a:rPr>
              <a:t>To what extent do individual changes in socioeconomic network diversity influence changes in market justice preferences?</a:t>
            </a:r>
            <a:endParaRPr i="1" dirty="0">
              <a:latin typeface="Georgia"/>
              <a:ea typeface="Georgia"/>
              <a:cs typeface="Georgia"/>
              <a:sym typeface="Georgia"/>
            </a:endParaRPr>
          </a:p>
        </p:txBody>
      </p:sp>
      <p:sp>
        <p:nvSpPr>
          <p:cNvPr id="109" name="Google Shape;10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 variable and method</a:t>
            </a:r>
            <a:endParaRPr/>
          </a:p>
        </p:txBody>
      </p:sp>
      <p:sp>
        <p:nvSpPr>
          <p:cNvPr id="115" name="Google Shape;11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
        <p:nvSpPr>
          <p:cNvPr id="116" name="Google Shape;116;p2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Georgia"/>
                <a:ea typeface="Georgia"/>
                <a:cs typeface="Georgia"/>
                <a:sym typeface="Georgia"/>
              </a:rPr>
              <a:t>Data</a:t>
            </a:r>
            <a:endParaRPr b="1">
              <a:latin typeface="Georgia"/>
              <a:ea typeface="Georgia"/>
              <a:cs typeface="Georgia"/>
              <a:sym typeface="Georgia"/>
            </a:endParaRPr>
          </a:p>
          <a:p>
            <a:pPr marL="457200" lvl="0" indent="-317500" algn="l" rtl="0">
              <a:spcBef>
                <a:spcPts val="1200"/>
              </a:spcBef>
              <a:spcAft>
                <a:spcPts val="0"/>
              </a:spcAft>
              <a:buSzPts val="1400"/>
              <a:buFont typeface="Georgia"/>
              <a:buChar char="●"/>
            </a:pPr>
            <a:r>
              <a:rPr lang="en">
                <a:latin typeface="Georgia"/>
                <a:ea typeface="Georgia"/>
                <a:cs typeface="Georgia"/>
                <a:sym typeface="Georgia"/>
              </a:rPr>
              <a:t>ELSOC Survey (3 waves)</a:t>
            </a:r>
            <a:endParaRPr>
              <a:latin typeface="Georgia"/>
              <a:ea typeface="Georgia"/>
              <a:cs typeface="Georgia"/>
              <a:sym typeface="Georgia"/>
            </a:endParaRPr>
          </a:p>
          <a:p>
            <a:pPr marL="914400" lvl="1" indent="-304800" algn="l" rtl="0">
              <a:spcBef>
                <a:spcPts val="0"/>
              </a:spcBef>
              <a:spcAft>
                <a:spcPts val="0"/>
              </a:spcAft>
              <a:buSzPts val="1200"/>
              <a:buFont typeface="Georgia"/>
              <a:buChar char="○"/>
            </a:pPr>
            <a:r>
              <a:rPr lang="en">
                <a:latin typeface="Georgia"/>
                <a:ea typeface="Georgia"/>
                <a:cs typeface="Georgia"/>
                <a:sym typeface="Georgia"/>
              </a:rPr>
              <a:t>Individual panel data </a:t>
            </a:r>
            <a:endParaRPr>
              <a:latin typeface="Georgia"/>
              <a:ea typeface="Georgia"/>
              <a:cs typeface="Georgia"/>
              <a:sym typeface="Georgia"/>
            </a:endParaRPr>
          </a:p>
          <a:p>
            <a:pPr marL="1371600" lvl="2" indent="-304800" algn="l" rtl="0">
              <a:spcBef>
                <a:spcPts val="0"/>
              </a:spcBef>
              <a:spcAft>
                <a:spcPts val="0"/>
              </a:spcAft>
              <a:buClr>
                <a:srgbClr val="FF0000"/>
              </a:buClr>
              <a:buSzPts val="1200"/>
              <a:buFont typeface="Georgia"/>
              <a:buChar char="■"/>
            </a:pPr>
            <a:r>
              <a:rPr lang="en" b="1">
                <a:solidFill>
                  <a:srgbClr val="FF0000"/>
                </a:solidFill>
                <a:latin typeface="Georgia"/>
                <a:ea typeface="Georgia"/>
                <a:cs typeface="Georgia"/>
                <a:sym typeface="Georgia"/>
              </a:rPr>
              <a:t>same individuals across time</a:t>
            </a:r>
            <a:endParaRPr b="1">
              <a:solidFill>
                <a:srgbClr val="FF0000"/>
              </a:solidFill>
              <a:latin typeface="Georgia"/>
              <a:ea typeface="Georgia"/>
              <a:cs typeface="Georgia"/>
              <a:sym typeface="Georgia"/>
            </a:endParaRPr>
          </a:p>
          <a:p>
            <a:pPr marL="914400" lvl="1" indent="-304800" algn="l" rtl="0">
              <a:spcBef>
                <a:spcPts val="0"/>
              </a:spcBef>
              <a:spcAft>
                <a:spcPts val="0"/>
              </a:spcAft>
              <a:buSzPts val="1200"/>
              <a:buFont typeface="Georgia"/>
              <a:buChar char="○"/>
            </a:pPr>
            <a:r>
              <a:rPr lang="en">
                <a:latin typeface="Georgia"/>
                <a:ea typeface="Georgia"/>
                <a:cs typeface="Georgia"/>
                <a:sym typeface="Georgia"/>
              </a:rPr>
              <a:t>Focus on urban population</a:t>
            </a:r>
            <a:endParaRPr>
              <a:latin typeface="Georgia"/>
              <a:ea typeface="Georgia"/>
              <a:cs typeface="Georgia"/>
              <a:sym typeface="Georgia"/>
            </a:endParaRPr>
          </a:p>
          <a:p>
            <a:pPr marL="914400" lvl="1" indent="-304800" algn="l" rtl="0">
              <a:spcBef>
                <a:spcPts val="0"/>
              </a:spcBef>
              <a:spcAft>
                <a:spcPts val="0"/>
              </a:spcAft>
              <a:buSzPts val="1200"/>
              <a:buFont typeface="Georgia"/>
              <a:buChar char="○"/>
            </a:pPr>
            <a:r>
              <a:rPr lang="en">
                <a:latin typeface="Georgia"/>
                <a:ea typeface="Georgia"/>
                <a:cs typeface="Georgia"/>
                <a:sym typeface="Georgia"/>
              </a:rPr>
              <a:t>Spatial representativeness of cities</a:t>
            </a:r>
            <a:endParaRPr>
              <a:latin typeface="Georgia"/>
              <a:ea typeface="Georgia"/>
              <a:cs typeface="Georgia"/>
              <a:sym typeface="Georgia"/>
            </a:endParaRPr>
          </a:p>
        </p:txBody>
      </p:sp>
      <p:sp>
        <p:nvSpPr>
          <p:cNvPr id="117" name="Google Shape;117;p2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Method</a:t>
            </a:r>
            <a:endParaRPr b="1"/>
          </a:p>
          <a:p>
            <a:pPr marL="457200" lvl="0" indent="-317500" algn="l" rtl="0">
              <a:spcBef>
                <a:spcPts val="1200"/>
              </a:spcBef>
              <a:spcAft>
                <a:spcPts val="0"/>
              </a:spcAft>
              <a:buSzPts val="1400"/>
              <a:buChar char="●"/>
            </a:pPr>
            <a:r>
              <a:rPr lang="en"/>
              <a:t>Fixed effects regression models (within estimation)</a:t>
            </a:r>
            <a:br>
              <a:rPr lang="en"/>
            </a:br>
            <a:endParaRPr/>
          </a:p>
          <a:p>
            <a:pPr marL="1371600" lvl="2" indent="-304800" algn="l" rtl="0">
              <a:spcBef>
                <a:spcPts val="0"/>
              </a:spcBef>
              <a:spcAft>
                <a:spcPts val="0"/>
              </a:spcAft>
              <a:buSzPts val="1200"/>
              <a:buChar char="■"/>
            </a:pPr>
            <a:r>
              <a:rPr lang="en"/>
              <a:t>Observations </a:t>
            </a:r>
            <a:r>
              <a:rPr lang="en" b="1" i="1"/>
              <a:t>t</a:t>
            </a:r>
            <a:r>
              <a:rPr lang="en" i="1"/>
              <a:t> </a:t>
            </a:r>
            <a:r>
              <a:rPr lang="en"/>
              <a:t>(~6200) nested in</a:t>
            </a:r>
            <a:endParaRPr/>
          </a:p>
          <a:p>
            <a:pPr marL="1371600" lvl="2" indent="-304800" algn="l" rtl="0">
              <a:spcBef>
                <a:spcPts val="0"/>
              </a:spcBef>
              <a:spcAft>
                <a:spcPts val="0"/>
              </a:spcAft>
              <a:buSzPts val="1200"/>
              <a:buChar char="■"/>
            </a:pPr>
            <a:r>
              <a:rPr lang="en"/>
              <a:t>Individuals  </a:t>
            </a:r>
            <a:r>
              <a:rPr lang="en" b="1" i="1"/>
              <a:t>j</a:t>
            </a:r>
            <a:r>
              <a:rPr lang="en"/>
              <a:t> (~2800) </a:t>
            </a:r>
            <a:endParaRPr/>
          </a:p>
        </p:txBody>
      </p:sp>
      <p:pic>
        <p:nvPicPr>
          <p:cNvPr id="118" name="Google Shape;118;p20"/>
          <p:cNvPicPr preferRelativeResize="0"/>
          <p:nvPr/>
        </p:nvPicPr>
        <p:blipFill rotWithShape="1">
          <a:blip r:embed="rId3">
            <a:alphaModFix/>
          </a:blip>
          <a:srcRect b="38214"/>
          <a:stretch/>
        </p:blipFill>
        <p:spPr>
          <a:xfrm>
            <a:off x="5294925" y="3245000"/>
            <a:ext cx="3505551" cy="970850"/>
          </a:xfrm>
          <a:prstGeom prst="rect">
            <a:avLst/>
          </a:prstGeom>
          <a:noFill/>
          <a:ln>
            <a:noFill/>
          </a:ln>
        </p:spPr>
      </p:pic>
      <p:pic>
        <p:nvPicPr>
          <p:cNvPr id="119" name="Google Shape;119;p20"/>
          <p:cNvPicPr preferRelativeResize="0"/>
          <p:nvPr/>
        </p:nvPicPr>
        <p:blipFill rotWithShape="1">
          <a:blip r:embed="rId3">
            <a:alphaModFix/>
          </a:blip>
          <a:srcRect b="79131"/>
          <a:stretch/>
        </p:blipFill>
        <p:spPr>
          <a:xfrm>
            <a:off x="5294925" y="3245000"/>
            <a:ext cx="3505551" cy="327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375920" algn="l" rtl="0">
              <a:spcBef>
                <a:spcPts val="0"/>
              </a:spcBef>
              <a:spcAft>
                <a:spcPts val="0"/>
              </a:spcAft>
              <a:buSzPts val="2320"/>
              <a:buFont typeface="Georgia"/>
              <a:buAutoNum type="romanUcPeriod"/>
            </a:pPr>
            <a:r>
              <a:rPr lang="en" sz="2320" dirty="0"/>
              <a:t>Market justice preferences</a:t>
            </a:r>
            <a:endParaRPr sz="2320" dirty="0"/>
          </a:p>
        </p:txBody>
      </p:sp>
      <p:sp>
        <p:nvSpPr>
          <p:cNvPr id="125" name="Google Shape;12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
        <p:nvSpPr>
          <p:cNvPr id="126" name="Google Shape;126;p21"/>
          <p:cNvSpPr txBox="1"/>
          <p:nvPr/>
        </p:nvSpPr>
        <p:spPr>
          <a:xfrm>
            <a:off x="1081375" y="1171500"/>
            <a:ext cx="5483100" cy="23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pic>
        <p:nvPicPr>
          <p:cNvPr id="127" name="Google Shape;127;p21"/>
          <p:cNvPicPr preferRelativeResize="0"/>
          <p:nvPr/>
        </p:nvPicPr>
        <p:blipFill>
          <a:blip r:embed="rId3">
            <a:alphaModFix/>
          </a:blip>
          <a:stretch>
            <a:fillRect/>
          </a:stretch>
        </p:blipFill>
        <p:spPr>
          <a:xfrm>
            <a:off x="78198" y="1246325"/>
            <a:ext cx="6176925" cy="3351300"/>
          </a:xfrm>
          <a:prstGeom prst="rect">
            <a:avLst/>
          </a:prstGeom>
          <a:noFill/>
          <a:ln>
            <a:noFill/>
          </a:ln>
        </p:spPr>
      </p:pic>
      <p:sp>
        <p:nvSpPr>
          <p:cNvPr id="128" name="Google Shape;128;p21"/>
          <p:cNvSpPr txBox="1">
            <a:spLocks noGrp="1"/>
          </p:cNvSpPr>
          <p:nvPr>
            <p:ph type="body" idx="2"/>
          </p:nvPr>
        </p:nvSpPr>
        <p:spPr>
          <a:xfrm>
            <a:off x="6248350" y="1152475"/>
            <a:ext cx="2583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dirty="0"/>
              <a:t>In this study:</a:t>
            </a:r>
            <a:endParaRPr dirty="0"/>
          </a:p>
          <a:p>
            <a:pPr marL="457200" lvl="0" indent="-317500" algn="l" rtl="0">
              <a:spcBef>
                <a:spcPts val="1200"/>
              </a:spcBef>
              <a:spcAft>
                <a:spcPts val="0"/>
              </a:spcAft>
              <a:buSzPts val="1400"/>
              <a:buChar char="●"/>
            </a:pPr>
            <a:r>
              <a:rPr lang="en" dirty="0"/>
              <a:t>The Cronbach alpha is close to 0.8 in all time points </a:t>
            </a:r>
            <a:r>
              <a:rPr lang="en" sz="900" dirty="0"/>
              <a:t>(α1 =.82, α2=.86, α3=.83)</a:t>
            </a:r>
            <a:endParaRPr sz="900" dirty="0"/>
          </a:p>
          <a:p>
            <a:pPr marL="457200" lvl="0" indent="-317500" algn="l" rtl="0">
              <a:spcBef>
                <a:spcPts val="0"/>
              </a:spcBef>
              <a:spcAft>
                <a:spcPts val="0"/>
              </a:spcAft>
              <a:buSzPts val="1400"/>
              <a:buChar char="●"/>
            </a:pPr>
            <a:r>
              <a:rPr lang="en" dirty="0"/>
              <a:t>Single indicator based on the combination of the three items</a:t>
            </a:r>
            <a:endParaRPr dirty="0"/>
          </a:p>
          <a:p>
            <a:pPr marL="0" lvl="0" indent="0" algn="l" rtl="0">
              <a:spcBef>
                <a:spcPts val="1200"/>
              </a:spcBef>
              <a:spcAft>
                <a:spcPts val="1200"/>
              </a:spcAft>
              <a:buNone/>
            </a:pPr>
            <a:endParaRPr dirty="0"/>
          </a:p>
        </p:txBody>
      </p:sp>
      <p:sp>
        <p:nvSpPr>
          <p:cNvPr id="129" name="Google Shape;129;p21"/>
          <p:cNvSpPr txBox="1"/>
          <p:nvPr/>
        </p:nvSpPr>
        <p:spPr>
          <a:xfrm>
            <a:off x="6463500" y="3465125"/>
            <a:ext cx="2496900" cy="498600"/>
          </a:xfrm>
          <a:prstGeom prst="rect">
            <a:avLst/>
          </a:prstGeom>
          <a:solidFill>
            <a:srgbClr val="F4CCCC"/>
          </a:solidFill>
          <a:ln w="9525" cap="flat" cmpd="sng">
            <a:solidFill>
              <a:srgbClr val="000000"/>
            </a:solidFill>
            <a:prstDash val="dot"/>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1200"/>
              </a:spcAft>
              <a:buClr>
                <a:schemeClr val="dk1"/>
              </a:buClr>
              <a:buSzPts val="1100"/>
              <a:buFont typeface="Arial"/>
              <a:buNone/>
            </a:pPr>
            <a:r>
              <a:rPr lang="en" sz="1100" dirty="0">
                <a:solidFill>
                  <a:schemeClr val="dk2"/>
                </a:solidFill>
                <a:latin typeface="Georgia"/>
                <a:ea typeface="Georgia"/>
                <a:cs typeface="Georgia"/>
                <a:sym typeface="Georgia"/>
              </a:rPr>
              <a:t>Higher values represent greater support for market justice.</a:t>
            </a:r>
            <a:endParaRPr sz="1700" dirty="0">
              <a:solidFill>
                <a:schemeClr val="dk2"/>
              </a:solidFill>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
        <p:nvSpPr>
          <p:cNvPr id="135" name="Google Shape;135;p22"/>
          <p:cNvSpPr txBox="1"/>
          <p:nvPr/>
        </p:nvSpPr>
        <p:spPr>
          <a:xfrm>
            <a:off x="728125" y="3438050"/>
            <a:ext cx="1633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000">
              <a:latin typeface="Georgia"/>
              <a:ea typeface="Georgia"/>
              <a:cs typeface="Georgia"/>
              <a:sym typeface="Georgia"/>
            </a:endParaRPr>
          </a:p>
        </p:txBody>
      </p:sp>
      <p:pic>
        <p:nvPicPr>
          <p:cNvPr id="136" name="Google Shape;136;p22"/>
          <p:cNvPicPr preferRelativeResize="0"/>
          <p:nvPr/>
        </p:nvPicPr>
        <p:blipFill rotWithShape="1">
          <a:blip r:embed="rId3">
            <a:alphaModFix/>
          </a:blip>
          <a:srcRect t="2095" r="47731"/>
          <a:stretch/>
        </p:blipFill>
        <p:spPr>
          <a:xfrm>
            <a:off x="5482475" y="1196775"/>
            <a:ext cx="2642826" cy="3466448"/>
          </a:xfrm>
          <a:prstGeom prst="rect">
            <a:avLst/>
          </a:prstGeom>
          <a:noFill/>
          <a:ln>
            <a:noFill/>
          </a:ln>
        </p:spPr>
      </p:pic>
      <p:sp>
        <p:nvSpPr>
          <p:cNvPr id="137" name="Google Shape;13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II. Social networks: position generator</a:t>
            </a:r>
            <a:endParaRPr dirty="0"/>
          </a:p>
        </p:txBody>
      </p:sp>
      <p:sp>
        <p:nvSpPr>
          <p:cNvPr id="138" name="Google Shape;138;p22"/>
          <p:cNvSpPr txBox="1">
            <a:spLocks noGrp="1"/>
          </p:cNvSpPr>
          <p:nvPr>
            <p:ph type="body" idx="1"/>
          </p:nvPr>
        </p:nvSpPr>
        <p:spPr>
          <a:xfrm>
            <a:off x="387550" y="119512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000" dirty="0"/>
              <a:t>“Now I will ask you about some of your </a:t>
            </a:r>
            <a:r>
              <a:rPr lang="en" sz="1000" b="1" u="sng" dirty="0"/>
              <a:t>acquaintances</a:t>
            </a:r>
            <a:r>
              <a:rPr lang="en" sz="1000" dirty="0"/>
              <a:t>. It doesn't matter if they are close to you (family or friends) or not. </a:t>
            </a:r>
            <a:r>
              <a:rPr lang="en" sz="1000" dirty="0">
                <a:solidFill>
                  <a:srgbClr val="DD7E6B"/>
                </a:solidFill>
              </a:rPr>
              <a:t>A person is your acquaintance if you at least know their first name, and if you could have a conversation with them if you meet them on the street or in a shopping centre</a:t>
            </a:r>
            <a:r>
              <a:rPr lang="en" sz="1000" dirty="0"/>
              <a:t>. </a:t>
            </a:r>
            <a:endParaRPr sz="1000" dirty="0"/>
          </a:p>
          <a:p>
            <a:pPr marL="0" lvl="0" indent="0" algn="l" rtl="0">
              <a:spcBef>
                <a:spcPts val="1200"/>
              </a:spcBef>
              <a:spcAft>
                <a:spcPts val="0"/>
              </a:spcAft>
              <a:buNone/>
            </a:pPr>
            <a:r>
              <a:rPr lang="en" sz="1000" dirty="0"/>
              <a:t>Thinking only of people living in </a:t>
            </a:r>
            <a:r>
              <a:rPr lang="en" sz="1000" b="1" dirty="0"/>
              <a:t>Chile</a:t>
            </a:r>
            <a:r>
              <a:rPr lang="en" sz="1000" dirty="0"/>
              <a:t>, could you tell me, based on the following sheet and even approximately, how many people you know are...?”</a:t>
            </a:r>
            <a:endParaRPr sz="1000" dirty="0"/>
          </a:p>
          <a:p>
            <a:pPr marL="0" lvl="0" indent="457200" algn="l" rtl="0">
              <a:lnSpc>
                <a:spcPct val="100000"/>
              </a:lnSpc>
              <a:spcBef>
                <a:spcPts val="1200"/>
              </a:spcBef>
              <a:spcAft>
                <a:spcPts val="0"/>
              </a:spcAft>
              <a:buNone/>
            </a:pPr>
            <a:r>
              <a:rPr lang="en" sz="1000" dirty="0">
                <a:highlight>
                  <a:schemeClr val="lt1"/>
                </a:highlight>
              </a:rPr>
              <a:t>1. None </a:t>
            </a:r>
            <a:endParaRPr sz="1000" dirty="0">
              <a:highlight>
                <a:schemeClr val="lt1"/>
              </a:highlight>
            </a:endParaRPr>
          </a:p>
          <a:p>
            <a:pPr marL="0" lvl="0" indent="457200" algn="l" rtl="0">
              <a:lnSpc>
                <a:spcPct val="100000"/>
              </a:lnSpc>
              <a:spcBef>
                <a:spcPts val="0"/>
              </a:spcBef>
              <a:spcAft>
                <a:spcPts val="0"/>
              </a:spcAft>
              <a:buNone/>
            </a:pPr>
            <a:r>
              <a:rPr lang="en" sz="1000" dirty="0">
                <a:highlight>
                  <a:schemeClr val="lt1"/>
                </a:highlight>
              </a:rPr>
              <a:t>2. One </a:t>
            </a:r>
            <a:endParaRPr sz="1000" dirty="0">
              <a:highlight>
                <a:schemeClr val="lt1"/>
              </a:highlight>
            </a:endParaRPr>
          </a:p>
          <a:p>
            <a:pPr marL="0" lvl="0" indent="457200" algn="l" rtl="0">
              <a:lnSpc>
                <a:spcPct val="100000"/>
              </a:lnSpc>
              <a:spcBef>
                <a:spcPts val="0"/>
              </a:spcBef>
              <a:spcAft>
                <a:spcPts val="0"/>
              </a:spcAft>
              <a:buNone/>
            </a:pPr>
            <a:r>
              <a:rPr lang="en" sz="1000" dirty="0">
                <a:highlight>
                  <a:schemeClr val="lt1"/>
                </a:highlight>
              </a:rPr>
              <a:t>3. Between 2 and 4 </a:t>
            </a:r>
            <a:endParaRPr sz="1000" dirty="0">
              <a:highlight>
                <a:schemeClr val="lt1"/>
              </a:highlight>
            </a:endParaRPr>
          </a:p>
          <a:p>
            <a:pPr marL="0" lvl="0" indent="457200" algn="l" rtl="0">
              <a:lnSpc>
                <a:spcPct val="100000"/>
              </a:lnSpc>
              <a:spcBef>
                <a:spcPts val="0"/>
              </a:spcBef>
              <a:spcAft>
                <a:spcPts val="0"/>
              </a:spcAft>
              <a:buNone/>
            </a:pPr>
            <a:r>
              <a:rPr lang="en" sz="1000" dirty="0">
                <a:highlight>
                  <a:schemeClr val="lt1"/>
                </a:highlight>
              </a:rPr>
              <a:t>4. Between 5 and 7 </a:t>
            </a:r>
            <a:endParaRPr sz="1000" dirty="0">
              <a:highlight>
                <a:schemeClr val="lt1"/>
              </a:highlight>
            </a:endParaRPr>
          </a:p>
          <a:p>
            <a:pPr marL="0" lvl="0" indent="457200" algn="l" rtl="0">
              <a:lnSpc>
                <a:spcPct val="100000"/>
              </a:lnSpc>
              <a:spcBef>
                <a:spcPts val="0"/>
              </a:spcBef>
              <a:spcAft>
                <a:spcPts val="0"/>
              </a:spcAft>
              <a:buNone/>
            </a:pPr>
            <a:r>
              <a:rPr lang="en" sz="1000" dirty="0">
                <a:highlight>
                  <a:schemeClr val="lt1"/>
                </a:highlight>
              </a:rPr>
              <a:t>5. Between 8 and 10 </a:t>
            </a:r>
            <a:endParaRPr sz="1000" dirty="0">
              <a:highlight>
                <a:schemeClr val="lt1"/>
              </a:highlight>
            </a:endParaRPr>
          </a:p>
          <a:p>
            <a:pPr marL="0" lvl="0" indent="457200" algn="l" rtl="0">
              <a:lnSpc>
                <a:spcPct val="100000"/>
              </a:lnSpc>
              <a:spcBef>
                <a:spcPts val="0"/>
              </a:spcBef>
              <a:spcAft>
                <a:spcPts val="0"/>
              </a:spcAft>
              <a:buNone/>
            </a:pPr>
            <a:r>
              <a:rPr lang="en" sz="1000" dirty="0">
                <a:highlight>
                  <a:schemeClr val="lt1"/>
                </a:highlight>
              </a:rPr>
              <a:t>6. Between 11 and 15 </a:t>
            </a:r>
            <a:endParaRPr sz="1000" dirty="0">
              <a:highlight>
                <a:schemeClr val="lt1"/>
              </a:highlight>
            </a:endParaRPr>
          </a:p>
          <a:p>
            <a:pPr marL="0" lvl="0" indent="457200" algn="l" rtl="0">
              <a:lnSpc>
                <a:spcPct val="100000"/>
              </a:lnSpc>
              <a:spcBef>
                <a:spcPts val="0"/>
              </a:spcBef>
              <a:spcAft>
                <a:spcPts val="0"/>
              </a:spcAft>
              <a:buNone/>
            </a:pPr>
            <a:r>
              <a:rPr lang="en" sz="1000" dirty="0">
                <a:highlight>
                  <a:schemeClr val="lt1"/>
                </a:highlight>
              </a:rPr>
              <a:t>7. 16 or more</a:t>
            </a:r>
            <a:endParaRPr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III. Network diversity index</a:t>
            </a:r>
            <a:endParaRPr dirty="0"/>
          </a:p>
        </p:txBody>
      </p:sp>
      <p:sp>
        <p:nvSpPr>
          <p:cNvPr id="144" name="Google Shape;14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
        <p:nvSpPr>
          <p:cNvPr id="145" name="Google Shape;145;p2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46" name="Google Shape;146;p23"/>
          <p:cNvSpPr txBox="1">
            <a:spLocks noGrp="1"/>
          </p:cNvSpPr>
          <p:nvPr>
            <p:ph type="body" idx="1"/>
          </p:nvPr>
        </p:nvSpPr>
        <p:spPr>
          <a:xfrm>
            <a:off x="311700" y="12286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dirty="0">
                <a:latin typeface="Georgia"/>
                <a:ea typeface="Georgia"/>
                <a:cs typeface="Georgia"/>
                <a:sym typeface="Georgia"/>
              </a:rPr>
              <a:t>Studies recommend using a single dimension to more accurately capture the network attribute (</a:t>
            </a:r>
            <a:r>
              <a:rPr lang="en" sz="1200" dirty="0">
                <a:solidFill>
                  <a:schemeClr val="accent1"/>
                </a:solidFill>
                <a:latin typeface="Georgia"/>
                <a:ea typeface="Georgia"/>
                <a:cs typeface="Georgia"/>
                <a:sym typeface="Georgia"/>
              </a:rPr>
              <a:t>Sapin et al., 2020</a:t>
            </a:r>
            <a:r>
              <a:rPr lang="en" sz="1200" dirty="0">
                <a:latin typeface="Georgia"/>
                <a:ea typeface="Georgia"/>
                <a:cs typeface="Georgia"/>
                <a:sym typeface="Georgia"/>
              </a:rPr>
              <a:t>;</a:t>
            </a:r>
            <a:r>
              <a:rPr lang="en" sz="1200" dirty="0">
                <a:solidFill>
                  <a:schemeClr val="accent1"/>
                </a:solidFill>
                <a:latin typeface="Georgia"/>
                <a:ea typeface="Georgia"/>
                <a:cs typeface="Georgia"/>
                <a:sym typeface="Georgia"/>
              </a:rPr>
              <a:t>Otero &amp; Mendoza, 2023</a:t>
            </a:r>
            <a:r>
              <a:rPr lang="en" sz="1200" dirty="0">
                <a:latin typeface="Georgia"/>
                <a:ea typeface="Georgia"/>
                <a:cs typeface="Georgia"/>
                <a:sym typeface="Georgia"/>
              </a:rPr>
              <a:t>).</a:t>
            </a:r>
            <a:endParaRPr sz="1200" dirty="0">
              <a:latin typeface="Georgia"/>
              <a:ea typeface="Georgia"/>
              <a:cs typeface="Georgia"/>
              <a:sym typeface="Georgia"/>
            </a:endParaRPr>
          </a:p>
          <a:p>
            <a:pPr marL="0" lvl="0" indent="0" algn="l" rtl="0">
              <a:spcBef>
                <a:spcPts val="1200"/>
              </a:spcBef>
              <a:spcAft>
                <a:spcPts val="0"/>
              </a:spcAft>
              <a:buNone/>
            </a:pPr>
            <a:r>
              <a:rPr lang="en" sz="1200" dirty="0">
                <a:latin typeface="Georgia"/>
                <a:ea typeface="Georgia"/>
                <a:cs typeface="Georgia"/>
                <a:sym typeface="Georgia"/>
              </a:rPr>
              <a:t>PCA*:</a:t>
            </a:r>
            <a:endParaRPr sz="1200" dirty="0">
              <a:latin typeface="Georgia"/>
              <a:ea typeface="Georgia"/>
              <a:cs typeface="Georgia"/>
              <a:sym typeface="Georgia"/>
            </a:endParaRPr>
          </a:p>
          <a:p>
            <a:pPr lvl="0" indent="-304800">
              <a:buSzPts val="1200"/>
              <a:buAutoNum type="arabicPeriod"/>
            </a:pPr>
            <a:r>
              <a:rPr lang="en" sz="1200" b="1" dirty="0">
                <a:latin typeface="Georgia"/>
                <a:ea typeface="Georgia"/>
                <a:cs typeface="Georgia"/>
                <a:sym typeface="Georgia"/>
              </a:rPr>
              <a:t>Extensivity</a:t>
            </a:r>
            <a:r>
              <a:rPr lang="en" sz="1200" dirty="0">
                <a:latin typeface="Georgia"/>
                <a:ea typeface="Georgia"/>
                <a:cs typeface="Georgia"/>
                <a:sym typeface="Georgia"/>
              </a:rPr>
              <a:t> (1 – 13): </a:t>
            </a:r>
            <a:r>
              <a:rPr lang="en-US" sz="1200" dirty="0">
                <a:latin typeface="Georgia"/>
                <a:ea typeface="Georgia"/>
                <a:cs typeface="Georgia"/>
                <a:sym typeface="Georgia"/>
              </a:rPr>
              <a:t>degree of variety as the total number of known occupations.</a:t>
            </a:r>
          </a:p>
          <a:p>
            <a:pPr indent="-304800">
              <a:buSzPts val="1200"/>
              <a:buFont typeface="Arial"/>
              <a:buAutoNum type="arabicPeriod"/>
            </a:pPr>
            <a:r>
              <a:rPr lang="en-US" sz="1200" b="1" dirty="0">
                <a:latin typeface="Georgia"/>
                <a:ea typeface="Georgia"/>
                <a:cs typeface="Georgia"/>
                <a:sym typeface="Georgia"/>
              </a:rPr>
              <a:t>Generalized Entropy</a:t>
            </a:r>
            <a:r>
              <a:rPr lang="en-US" sz="1200" dirty="0">
                <a:latin typeface="Georgia"/>
                <a:ea typeface="Georgia"/>
                <a:cs typeface="Georgia"/>
                <a:sym typeface="Georgia"/>
              </a:rPr>
              <a:t> (0 – 1): degree of balance across groups based on the number of acquaintances in each occupation.</a:t>
            </a:r>
            <a:endParaRPr lang="en" sz="1200" dirty="0">
              <a:latin typeface="Georgia"/>
              <a:ea typeface="Georgia"/>
              <a:cs typeface="Georgia"/>
              <a:sym typeface="Georgia"/>
            </a:endParaRPr>
          </a:p>
          <a:p>
            <a:pPr marL="0" lvl="0" indent="0">
              <a:spcBef>
                <a:spcPts val="1200"/>
              </a:spcBef>
              <a:buNone/>
            </a:pPr>
            <a:r>
              <a:rPr lang="en-US" sz="1200" dirty="0">
                <a:latin typeface="Georgia"/>
                <a:ea typeface="Georgia"/>
                <a:cs typeface="Georgia"/>
                <a:sym typeface="Georgia"/>
              </a:rPr>
              <a:t>This strategy consider both the possible ties to the available occupations (</a:t>
            </a:r>
            <a:r>
              <a:rPr lang="en-US" sz="1200" b="1" i="1" dirty="0">
                <a:latin typeface="Georgia"/>
                <a:ea typeface="Georgia"/>
                <a:cs typeface="Georgia"/>
                <a:sym typeface="Georgia"/>
              </a:rPr>
              <a:t>Variety</a:t>
            </a:r>
            <a:r>
              <a:rPr lang="en-US" sz="1200" dirty="0">
                <a:latin typeface="Georgia"/>
                <a:ea typeface="Georgia"/>
                <a:cs typeface="Georgia"/>
                <a:sym typeface="Georgia"/>
              </a:rPr>
              <a:t>) and how these ties are distributed across each group (</a:t>
            </a:r>
            <a:r>
              <a:rPr lang="en-US" sz="1200" b="1" i="1" dirty="0">
                <a:latin typeface="Georgia"/>
                <a:ea typeface="Georgia"/>
                <a:cs typeface="Georgia"/>
                <a:sym typeface="Georgia"/>
              </a:rPr>
              <a:t>Balance</a:t>
            </a:r>
            <a:r>
              <a:rPr lang="en-US" sz="1200" dirty="0">
                <a:latin typeface="Georgia"/>
                <a:ea typeface="Georgia"/>
                <a:cs typeface="Georgia"/>
                <a:sym typeface="Georgia"/>
              </a:rPr>
              <a:t>) (</a:t>
            </a:r>
            <a:r>
              <a:rPr lang="en-US" sz="1200" dirty="0">
                <a:solidFill>
                  <a:schemeClr val="accent1"/>
                </a:solidFill>
                <a:latin typeface="Georgia"/>
                <a:ea typeface="Georgia"/>
                <a:cs typeface="Georgia"/>
                <a:sym typeface="Georgia"/>
              </a:rPr>
              <a:t>Koopmans &amp; Schaeffer, 2015</a:t>
            </a:r>
            <a:r>
              <a:rPr lang="en-US" sz="1200" dirty="0">
                <a:latin typeface="Georgia"/>
                <a:ea typeface="Georgia"/>
                <a:cs typeface="Georgia"/>
                <a:sym typeface="Georgia"/>
              </a:rPr>
              <a:t>). </a:t>
            </a:r>
            <a:endParaRPr lang="es-CL" sz="1200" dirty="0">
              <a:latin typeface="Georgia"/>
              <a:ea typeface="Georgia"/>
              <a:cs typeface="Georgia"/>
              <a:sym typeface="Georgia"/>
            </a:endParaRPr>
          </a:p>
          <a:p>
            <a:pPr marL="0" lvl="0" indent="0" algn="l" rtl="0">
              <a:spcBef>
                <a:spcPts val="1200"/>
              </a:spcBef>
              <a:spcAft>
                <a:spcPts val="0"/>
              </a:spcAft>
              <a:buNone/>
            </a:pPr>
            <a:endParaRPr sz="1200" dirty="0">
              <a:latin typeface="Georgia"/>
              <a:ea typeface="Georgia"/>
              <a:cs typeface="Georgia"/>
              <a:sym typeface="Georgia"/>
            </a:endParaRPr>
          </a:p>
          <a:p>
            <a:pPr marL="0" lvl="0" indent="0" algn="ctr" rtl="0">
              <a:spcBef>
                <a:spcPts val="1200"/>
              </a:spcBef>
              <a:spcAft>
                <a:spcPts val="1200"/>
              </a:spcAft>
              <a:buNone/>
            </a:pPr>
            <a:endParaRPr sz="1200" dirty="0">
              <a:latin typeface="Georgia"/>
              <a:ea typeface="Georgia"/>
              <a:cs typeface="Georgia"/>
              <a:sym typeface="Georgia"/>
            </a:endParaRPr>
          </a:p>
        </p:txBody>
      </p:sp>
      <p:sp>
        <p:nvSpPr>
          <p:cNvPr id="147" name="Google Shape;147;p23"/>
          <p:cNvSpPr txBox="1"/>
          <p:nvPr/>
        </p:nvSpPr>
        <p:spPr>
          <a:xfrm>
            <a:off x="4978950" y="4395775"/>
            <a:ext cx="3706800" cy="498600"/>
          </a:xfrm>
          <a:prstGeom prst="rect">
            <a:avLst/>
          </a:prstGeom>
          <a:solidFill>
            <a:srgbClr val="F4CCCC"/>
          </a:solidFill>
          <a:ln w="9525" cap="flat" cmpd="sng">
            <a:solidFill>
              <a:srgbClr val="000000"/>
            </a:solidFill>
            <a:prstDash val="dot"/>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1200"/>
              </a:spcAft>
              <a:buClr>
                <a:schemeClr val="dk1"/>
              </a:buClr>
              <a:buSzPts val="1100"/>
              <a:buFont typeface="Arial"/>
              <a:buNone/>
            </a:pPr>
            <a:r>
              <a:rPr lang="en" sz="1100" dirty="0">
                <a:solidFill>
                  <a:schemeClr val="dk2"/>
                </a:solidFill>
                <a:latin typeface="Georgia"/>
                <a:ea typeface="Georgia"/>
                <a:cs typeface="Georgia"/>
                <a:sym typeface="Georgia"/>
              </a:rPr>
              <a:t>Higher values represent greater socio-economic diversity in the networks of acquaintances.</a:t>
            </a:r>
            <a:endParaRPr sz="1700" dirty="0">
              <a:solidFill>
                <a:schemeClr val="dk2"/>
              </a:solidFill>
              <a:latin typeface="Georgia"/>
              <a:ea typeface="Georgia"/>
              <a:cs typeface="Georgia"/>
              <a:sym typeface="Georgia"/>
            </a:endParaRPr>
          </a:p>
        </p:txBody>
      </p:sp>
      <p:sp>
        <p:nvSpPr>
          <p:cNvPr id="148" name="Google Shape;148;p23"/>
          <p:cNvSpPr txBox="1"/>
          <p:nvPr/>
        </p:nvSpPr>
        <p:spPr>
          <a:xfrm>
            <a:off x="311700" y="4684511"/>
            <a:ext cx="3833400" cy="79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sz="1000" b="1" i="1" dirty="0">
                <a:solidFill>
                  <a:schemeClr val="dk2"/>
                </a:solidFill>
              </a:rPr>
              <a:t>*Note</a:t>
            </a:r>
            <a:r>
              <a:rPr lang="en" sz="1000" dirty="0">
                <a:solidFill>
                  <a:schemeClr val="dk2"/>
                </a:solidFill>
              </a:rPr>
              <a:t>: ~90% of explained variance  </a:t>
            </a:r>
            <a:endParaRPr sz="1000" dirty="0">
              <a:solidFill>
                <a:schemeClr val="dk2"/>
              </a:solidFill>
            </a:endParaRPr>
          </a:p>
          <a:p>
            <a:pPr marL="0" lvl="0" indent="0" algn="l" rtl="0">
              <a:spcBef>
                <a:spcPts val="1200"/>
              </a:spcBef>
              <a:spcAft>
                <a:spcPts val="0"/>
              </a:spcAft>
              <a:buNone/>
            </a:pPr>
            <a:endParaRPr sz="1800" dirty="0">
              <a:solidFill>
                <a:schemeClr val="dk2"/>
              </a:solidFill>
            </a:endParaRPr>
          </a:p>
        </p:txBody>
      </p:sp>
      <p:pic>
        <p:nvPicPr>
          <p:cNvPr id="149" name="Google Shape;149;p23"/>
          <p:cNvPicPr preferRelativeResize="0"/>
          <p:nvPr/>
        </p:nvPicPr>
        <p:blipFill>
          <a:blip r:embed="rId3">
            <a:alphaModFix/>
          </a:blip>
          <a:stretch>
            <a:fillRect/>
          </a:stretch>
        </p:blipFill>
        <p:spPr>
          <a:xfrm>
            <a:off x="4571997" y="1435625"/>
            <a:ext cx="4088724" cy="2809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Results</a:t>
            </a:r>
            <a:endParaRPr/>
          </a:p>
        </p:txBody>
      </p:sp>
      <p:sp>
        <p:nvSpPr>
          <p:cNvPr id="155" name="Google Shape;155;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
        <p:nvSpPr>
          <p:cNvPr id="161" name="Google Shape;16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320" dirty="0"/>
              <a:t>Longitudinal results on network diversity and market justice </a:t>
            </a:r>
            <a:endParaRPr sz="2320" dirty="0"/>
          </a:p>
        </p:txBody>
      </p:sp>
      <p:sp>
        <p:nvSpPr>
          <p:cNvPr id="163" name="Google Shape;163;p2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lvl="0"/>
            <a:r>
              <a:rPr lang="en" b="1" i="1" dirty="0">
                <a:latin typeface="Georgia"/>
                <a:ea typeface="Georgia"/>
                <a:cs typeface="Georgia"/>
                <a:sym typeface="Georgia"/>
              </a:rPr>
              <a:t>Moving down</a:t>
            </a:r>
            <a:r>
              <a:rPr lang="en" dirty="0">
                <a:latin typeface="Georgia"/>
                <a:ea typeface="Georgia"/>
                <a:cs typeface="Georgia"/>
                <a:sym typeface="Georgia"/>
              </a:rPr>
              <a:t> from a middle to a low status occupation increase their support for market justice (β = -0.14, p&lt;.01), but also from </a:t>
            </a:r>
            <a:r>
              <a:rPr lang="en" b="1" i="1" dirty="0">
                <a:latin typeface="Georgia"/>
                <a:ea typeface="Georgia"/>
                <a:cs typeface="Georgia"/>
                <a:sym typeface="Georgia"/>
              </a:rPr>
              <a:t>moving up </a:t>
            </a:r>
            <a:r>
              <a:rPr lang="en" dirty="0">
                <a:latin typeface="Georgia"/>
                <a:ea typeface="Georgia"/>
                <a:cs typeface="Georgia"/>
                <a:sym typeface="Georgia"/>
              </a:rPr>
              <a:t>from a middle to a higher status occupation (β = -0.14, p&lt;.01).</a:t>
            </a:r>
            <a:br>
              <a:rPr lang="en" dirty="0">
                <a:latin typeface="Georgia"/>
                <a:ea typeface="Georgia"/>
                <a:cs typeface="Georgia"/>
                <a:sym typeface="Georgia"/>
              </a:rPr>
            </a:br>
            <a:endParaRPr dirty="0">
              <a:latin typeface="Georgia"/>
              <a:ea typeface="Georgia"/>
              <a:cs typeface="Georgia"/>
              <a:sym typeface="Georgia"/>
            </a:endParaRPr>
          </a:p>
          <a:p>
            <a:pPr marL="457200" lvl="0" indent="-317500" algn="l" rtl="0">
              <a:spcBef>
                <a:spcPts val="0"/>
              </a:spcBef>
              <a:spcAft>
                <a:spcPts val="0"/>
              </a:spcAft>
              <a:buSzPts val="1400"/>
              <a:buChar char="●"/>
            </a:pPr>
            <a:r>
              <a:rPr lang="en" b="1" i="1" dirty="0">
                <a:latin typeface="Georgia"/>
                <a:ea typeface="Georgia"/>
                <a:cs typeface="Georgia"/>
                <a:sym typeface="Georgia"/>
              </a:rPr>
              <a:t>Increasing </a:t>
            </a:r>
            <a:r>
              <a:rPr lang="en" dirty="0">
                <a:latin typeface="Georgia"/>
                <a:ea typeface="Georgia"/>
                <a:cs typeface="Georgia"/>
                <a:sym typeface="Georgia"/>
              </a:rPr>
              <a:t>network socioeconomic diversity decrease support for market justice (β = -0.07, p&lt;.01).</a:t>
            </a:r>
            <a:endParaRPr dirty="0">
              <a:latin typeface="Georgia"/>
              <a:ea typeface="Georgia"/>
              <a:cs typeface="Georgia"/>
              <a:sym typeface="Georgia"/>
            </a:endParaRPr>
          </a:p>
          <a:p>
            <a:pPr marL="0" lvl="0" indent="0" algn="l" rtl="0">
              <a:spcBef>
                <a:spcPts val="1200"/>
              </a:spcBef>
              <a:spcAft>
                <a:spcPts val="0"/>
              </a:spcAft>
              <a:buNone/>
            </a:pPr>
            <a:endParaRPr dirty="0">
              <a:latin typeface="Georgia"/>
              <a:ea typeface="Georgia"/>
              <a:cs typeface="Georgia"/>
              <a:sym typeface="Georgia"/>
            </a:endParaRPr>
          </a:p>
        </p:txBody>
      </p:sp>
      <p:pic>
        <p:nvPicPr>
          <p:cNvPr id="7" name="Picture 6">
            <a:extLst>
              <a:ext uri="{FF2B5EF4-FFF2-40B4-BE49-F238E27FC236}">
                <a16:creationId xmlns:a16="http://schemas.microsoft.com/office/drawing/2014/main" id="{AC0D53DC-9A29-8238-476D-57EDE6D6C5F3}"/>
              </a:ext>
            </a:extLst>
          </p:cNvPr>
          <p:cNvPicPr>
            <a:picLocks noChangeAspect="1"/>
          </p:cNvPicPr>
          <p:nvPr/>
        </p:nvPicPr>
        <p:blipFill>
          <a:blip r:embed="rId3"/>
          <a:stretch>
            <a:fillRect/>
          </a:stretch>
        </p:blipFill>
        <p:spPr>
          <a:xfrm>
            <a:off x="4832402" y="843804"/>
            <a:ext cx="4213013" cy="42130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a:spLocks noGrp="1"/>
          </p:cNvSpPr>
          <p:nvPr>
            <p:ph type="body" idx="1"/>
          </p:nvPr>
        </p:nvSpPr>
        <p:spPr>
          <a:xfrm>
            <a:off x="311700" y="1152475"/>
            <a:ext cx="3064200" cy="3416400"/>
          </a:xfrm>
          <a:prstGeom prst="rect">
            <a:avLst/>
          </a:prstGeom>
        </p:spPr>
        <p:txBody>
          <a:bodyPr spcFirstLastPara="1" wrap="square" lIns="91425" tIns="91425" rIns="91425" bIns="91425" anchor="t" anchorCtr="0">
            <a:normAutofit fontScale="92500" lnSpcReduction="10000"/>
          </a:bodyPr>
          <a:lstStyle/>
          <a:p>
            <a:pPr marL="0" lvl="0" indent="0">
              <a:buNone/>
            </a:pPr>
            <a:r>
              <a:rPr lang="en" dirty="0">
                <a:latin typeface="Georgia"/>
                <a:ea typeface="Georgia"/>
                <a:cs typeface="Georgia"/>
                <a:sym typeface="Georgia"/>
              </a:rPr>
              <a:t>Under conditions of </a:t>
            </a:r>
            <a:r>
              <a:rPr lang="en" b="1" dirty="0">
                <a:latin typeface="Georgia"/>
                <a:ea typeface="Georgia"/>
                <a:cs typeface="Georgia"/>
                <a:sym typeface="Georgia"/>
              </a:rPr>
              <a:t>low network diversity</a:t>
            </a:r>
            <a:r>
              <a:rPr lang="en" dirty="0">
                <a:latin typeface="Georgia"/>
                <a:ea typeface="Georgia"/>
                <a:cs typeface="Georgia"/>
                <a:sym typeface="Georgia"/>
              </a:rPr>
              <a:t> levels (</a:t>
            </a:r>
            <a:r>
              <a:rPr lang="en" i="1" dirty="0">
                <a:solidFill>
                  <a:schemeClr val="accent1"/>
                </a:solidFill>
                <a:latin typeface="Georgia"/>
                <a:ea typeface="Georgia"/>
                <a:cs typeface="Georgia"/>
                <a:sym typeface="Georgia"/>
              </a:rPr>
              <a:t>M</a:t>
            </a:r>
            <a:r>
              <a:rPr lang="en" dirty="0">
                <a:solidFill>
                  <a:schemeClr val="accent1"/>
                </a:solidFill>
                <a:latin typeface="Georgia"/>
                <a:ea typeface="Georgia"/>
                <a:cs typeface="Georgia"/>
                <a:sym typeface="Georgia"/>
              </a:rPr>
              <a:t>-1SD</a:t>
            </a:r>
            <a:r>
              <a:rPr lang="en" dirty="0">
                <a:latin typeface="Georgia"/>
                <a:ea typeface="Georgia"/>
                <a:cs typeface="Georgia"/>
                <a:sym typeface="Georgia"/>
              </a:rPr>
              <a:t>) the support for market justice is </a:t>
            </a:r>
            <a:r>
              <a:rPr lang="it-IT" dirty="0">
                <a:solidFill>
                  <a:schemeClr val="accent1"/>
                </a:solidFill>
                <a:latin typeface="Georgia"/>
                <a:ea typeface="Georgia"/>
                <a:cs typeface="Georgia"/>
                <a:sym typeface="Georgia"/>
              </a:rPr>
              <a:t>2.19 (95% CI: 2.11 – 2.27)</a:t>
            </a:r>
            <a:endParaRPr dirty="0">
              <a:solidFill>
                <a:schemeClr val="accent1"/>
              </a:solidFill>
              <a:latin typeface="Georgia"/>
              <a:ea typeface="Georgia"/>
              <a:cs typeface="Georgia"/>
              <a:sym typeface="Georgia"/>
            </a:endParaRPr>
          </a:p>
          <a:p>
            <a:pPr marL="0" lvl="0" indent="0" algn="l" rtl="0">
              <a:spcBef>
                <a:spcPts val="1200"/>
              </a:spcBef>
              <a:spcAft>
                <a:spcPts val="0"/>
              </a:spcAft>
              <a:buNone/>
            </a:pPr>
            <a:r>
              <a:rPr lang="en" dirty="0">
                <a:latin typeface="Georgia"/>
                <a:ea typeface="Georgia"/>
                <a:cs typeface="Georgia"/>
                <a:sym typeface="Georgia"/>
              </a:rPr>
              <a:t>Under conditions of </a:t>
            </a:r>
            <a:r>
              <a:rPr lang="en" b="1" dirty="0">
                <a:latin typeface="Georgia"/>
                <a:ea typeface="Georgia"/>
                <a:cs typeface="Georgia"/>
                <a:sym typeface="Georgia"/>
              </a:rPr>
              <a:t>high network diversity </a:t>
            </a:r>
            <a:r>
              <a:rPr lang="en" dirty="0">
                <a:latin typeface="Georgia"/>
                <a:ea typeface="Georgia"/>
                <a:cs typeface="Georgia"/>
                <a:sym typeface="Georgia"/>
              </a:rPr>
              <a:t>(</a:t>
            </a:r>
            <a:r>
              <a:rPr lang="en" i="1" dirty="0">
                <a:solidFill>
                  <a:srgbClr val="DD7E6B"/>
                </a:solidFill>
                <a:latin typeface="Georgia"/>
                <a:sym typeface="Georgia"/>
              </a:rPr>
              <a:t>M</a:t>
            </a:r>
            <a:r>
              <a:rPr lang="en" dirty="0">
                <a:solidFill>
                  <a:srgbClr val="DD7E6B"/>
                </a:solidFill>
                <a:latin typeface="Georgia"/>
                <a:ea typeface="Georgia"/>
                <a:cs typeface="Georgia"/>
                <a:sym typeface="Georgia"/>
              </a:rPr>
              <a:t>+1SD</a:t>
            </a:r>
            <a:r>
              <a:rPr lang="en" dirty="0">
                <a:latin typeface="Georgia"/>
                <a:ea typeface="Georgia"/>
                <a:cs typeface="Georgia"/>
                <a:sym typeface="Georgia"/>
              </a:rPr>
              <a:t>) support for market justice is </a:t>
            </a:r>
            <a:r>
              <a:rPr lang="it-IT" dirty="0">
                <a:solidFill>
                  <a:srgbClr val="DD7E6B"/>
                </a:solidFill>
                <a:latin typeface="Georgia"/>
                <a:ea typeface="Georgia"/>
                <a:cs typeface="Georgia"/>
                <a:sym typeface="Georgia"/>
              </a:rPr>
              <a:t>2.05 (95% CI: 1.97 – 2.14)</a:t>
            </a:r>
          </a:p>
          <a:p>
            <a:pPr marL="0" lvl="0" indent="0">
              <a:spcBef>
                <a:spcPts val="1200"/>
              </a:spcBef>
              <a:buNone/>
            </a:pPr>
            <a:r>
              <a:rPr lang="en" dirty="0">
                <a:latin typeface="Georgia"/>
                <a:ea typeface="Georgia"/>
                <a:cs typeface="Georgia"/>
                <a:sym typeface="Georgia"/>
              </a:rPr>
              <a:t>Moving from a </a:t>
            </a:r>
            <a:r>
              <a:rPr lang="en" dirty="0">
                <a:solidFill>
                  <a:schemeClr val="accent1"/>
                </a:solidFill>
                <a:latin typeface="Georgia"/>
                <a:ea typeface="Georgia"/>
                <a:cs typeface="Georgia"/>
                <a:sym typeface="Georgia"/>
              </a:rPr>
              <a:t>low </a:t>
            </a:r>
            <a:r>
              <a:rPr lang="en" dirty="0">
                <a:latin typeface="Georgia"/>
                <a:ea typeface="Georgia"/>
                <a:cs typeface="Georgia"/>
                <a:sym typeface="Georgia"/>
              </a:rPr>
              <a:t>to a </a:t>
            </a:r>
            <a:r>
              <a:rPr lang="en" dirty="0">
                <a:solidFill>
                  <a:srgbClr val="DD7E6B"/>
                </a:solidFill>
                <a:latin typeface="Georgia"/>
                <a:ea typeface="Georgia"/>
                <a:cs typeface="Georgia"/>
                <a:sym typeface="Georgia"/>
              </a:rPr>
              <a:t>high </a:t>
            </a:r>
            <a:r>
              <a:rPr lang="en" dirty="0">
                <a:latin typeface="Georgia"/>
                <a:ea typeface="Georgia"/>
                <a:cs typeface="Georgia"/>
                <a:sym typeface="Georgia"/>
              </a:rPr>
              <a:t>diversity network implies a decrease of </a:t>
            </a:r>
            <a:r>
              <a:rPr lang="es-CL" b="1" dirty="0">
                <a:latin typeface="Georgia"/>
                <a:ea typeface="Georgia"/>
                <a:cs typeface="Georgia"/>
                <a:sym typeface="Georgia"/>
              </a:rPr>
              <a:t>0.14 </a:t>
            </a:r>
            <a:r>
              <a:rPr lang="en" dirty="0">
                <a:latin typeface="Georgia"/>
                <a:ea typeface="Georgia"/>
                <a:cs typeface="Georgia"/>
                <a:sym typeface="Georgia"/>
              </a:rPr>
              <a:t>in support for market justice – which represents a change of 3.5% in the original scale (1 to 5)</a:t>
            </a:r>
            <a:br>
              <a:rPr lang="en" dirty="0">
                <a:latin typeface="Georgia"/>
                <a:ea typeface="Georgia"/>
                <a:cs typeface="Georgia"/>
                <a:sym typeface="Georgia"/>
              </a:rPr>
            </a:br>
            <a:br>
              <a:rPr lang="en" dirty="0">
                <a:latin typeface="Georgia"/>
                <a:ea typeface="Georgia"/>
                <a:cs typeface="Georgia"/>
                <a:sym typeface="Georgia"/>
              </a:rPr>
            </a:br>
            <a:endParaRPr dirty="0">
              <a:latin typeface="Georgia"/>
              <a:ea typeface="Georgia"/>
              <a:cs typeface="Georgia"/>
              <a:sym typeface="Georgia"/>
            </a:endParaRPr>
          </a:p>
        </p:txBody>
      </p:sp>
      <p:sp>
        <p:nvSpPr>
          <p:cNvPr id="169" name="Google Shape;16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
        <p:nvSpPr>
          <p:cNvPr id="170" name="Google Shape;170;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Changes on network diversity </a:t>
            </a:r>
            <a:endParaRPr dirty="0"/>
          </a:p>
        </p:txBody>
      </p:sp>
      <p:sp>
        <p:nvSpPr>
          <p:cNvPr id="172" name="Google Shape;172;p2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pic>
        <p:nvPicPr>
          <p:cNvPr id="3" name="Picture 2">
            <a:extLst>
              <a:ext uri="{FF2B5EF4-FFF2-40B4-BE49-F238E27FC236}">
                <a16:creationId xmlns:a16="http://schemas.microsoft.com/office/drawing/2014/main" id="{FB41BC32-0B4D-AB9F-1281-ADF7B56F1BCC}"/>
              </a:ext>
            </a:extLst>
          </p:cNvPr>
          <p:cNvPicPr>
            <a:picLocks noChangeAspect="1"/>
          </p:cNvPicPr>
          <p:nvPr/>
        </p:nvPicPr>
        <p:blipFill>
          <a:blip r:embed="rId3"/>
          <a:stretch>
            <a:fillRect/>
          </a:stretch>
        </p:blipFill>
        <p:spPr>
          <a:xfrm>
            <a:off x="3302241" y="1112067"/>
            <a:ext cx="5718917" cy="38118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Georgia"/>
                <a:ea typeface="Georgia"/>
                <a:cs typeface="Georgia"/>
                <a:sym typeface="Georgia"/>
              </a:rPr>
              <a:t>Conclusions</a:t>
            </a:r>
            <a:endParaRPr dirty="0">
              <a:latin typeface="Georgia"/>
              <a:ea typeface="Georgia"/>
              <a:cs typeface="Georgia"/>
              <a:sym typeface="Georgia"/>
            </a:endParaRPr>
          </a:p>
        </p:txBody>
      </p:sp>
      <p:sp>
        <p:nvSpPr>
          <p:cNvPr id="178" name="Google Shape;178;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rgbClr val="980000"/>
                </a:solidFill>
                <a:latin typeface="Georgia"/>
                <a:ea typeface="Georgia"/>
                <a:cs typeface="Georgia"/>
                <a:sym typeface="Georgia"/>
              </a:rPr>
              <a:t>On network diversity</a:t>
            </a:r>
            <a:endParaRPr sz="1200" b="1" dirty="0">
              <a:solidFill>
                <a:srgbClr val="980000"/>
              </a:solidFill>
              <a:latin typeface="Georgia"/>
              <a:ea typeface="Georgia"/>
              <a:cs typeface="Georgia"/>
              <a:sym typeface="Georgia"/>
            </a:endParaRPr>
          </a:p>
          <a:p>
            <a:pPr marL="457200" lvl="0" indent="-304800" algn="l" rtl="0">
              <a:spcBef>
                <a:spcPts val="1200"/>
              </a:spcBef>
              <a:spcAft>
                <a:spcPts val="0"/>
              </a:spcAft>
              <a:buSzPts val="1200"/>
              <a:buChar char="●"/>
            </a:pPr>
            <a:r>
              <a:rPr lang="en" sz="1200" dirty="0">
                <a:latin typeface="Georgia"/>
                <a:ea typeface="Georgia"/>
                <a:cs typeface="Georgia"/>
                <a:sym typeface="Georgia"/>
              </a:rPr>
              <a:t>Consistent with H1, individual change decreases the degree of agreement of people in Chile that income should govern access to social services - </a:t>
            </a:r>
            <a:r>
              <a:rPr lang="en" sz="1200" b="1" dirty="0">
                <a:latin typeface="Georgia"/>
                <a:ea typeface="Georgia"/>
                <a:cs typeface="Georgia"/>
                <a:sym typeface="Georgia"/>
              </a:rPr>
              <a:t>supporting the market skepticism hypothesis</a:t>
            </a:r>
            <a:r>
              <a:rPr lang="en" sz="1200" dirty="0">
                <a:latin typeface="Georgia"/>
                <a:ea typeface="Georgia"/>
                <a:cs typeface="Georgia"/>
                <a:sym typeface="Georgia"/>
              </a:rPr>
              <a:t>. Those who increase their network diversity tend to become </a:t>
            </a:r>
            <a:r>
              <a:rPr lang="en" sz="1200" b="1" dirty="0">
                <a:latin typeface="Georgia"/>
                <a:ea typeface="Georgia"/>
                <a:cs typeface="Georgia"/>
                <a:sym typeface="Georgia"/>
              </a:rPr>
              <a:t>more critical towards</a:t>
            </a:r>
            <a:r>
              <a:rPr lang="en" sz="1200" dirty="0">
                <a:latin typeface="Georgia"/>
                <a:ea typeface="Georgia"/>
                <a:cs typeface="Georgia"/>
                <a:sym typeface="Georgia"/>
              </a:rPr>
              <a:t> the market mechanism as a legitimate way of allocating social welfare </a:t>
            </a:r>
            <a:br>
              <a:rPr lang="en" sz="1200" dirty="0">
                <a:latin typeface="Georgia"/>
                <a:ea typeface="Georgia"/>
                <a:cs typeface="Georgia"/>
                <a:sym typeface="Georgia"/>
              </a:rPr>
            </a:br>
            <a:endParaRPr sz="1200" b="1" dirty="0">
              <a:latin typeface="Georgia"/>
              <a:ea typeface="Georgia"/>
              <a:cs typeface="Georgia"/>
              <a:sym typeface="Georgia"/>
            </a:endParaRPr>
          </a:p>
          <a:p>
            <a:pPr marL="457200" lvl="0" indent="-304800" algn="l" rtl="0">
              <a:spcBef>
                <a:spcPts val="0"/>
              </a:spcBef>
              <a:spcAft>
                <a:spcPts val="0"/>
              </a:spcAft>
              <a:buSzPts val="1200"/>
              <a:buChar char="●"/>
            </a:pPr>
            <a:r>
              <a:rPr lang="en" sz="1200" dirty="0">
                <a:latin typeface="Georgia"/>
                <a:ea typeface="Georgia"/>
                <a:cs typeface="Georgia"/>
                <a:sym typeface="Georgia"/>
              </a:rPr>
              <a:t>According to theorization, evidence here shows that network change attitudes. It could be through the (non-exclusive) channels of :</a:t>
            </a:r>
            <a:br>
              <a:rPr lang="en" sz="1200" dirty="0">
                <a:latin typeface="Georgia"/>
                <a:ea typeface="Georgia"/>
                <a:cs typeface="Georgia"/>
                <a:sym typeface="Georgia"/>
              </a:rPr>
            </a:br>
            <a:r>
              <a:rPr lang="en" sz="1200" dirty="0">
                <a:latin typeface="Georgia"/>
                <a:ea typeface="Georgia"/>
                <a:cs typeface="Georgia"/>
                <a:sym typeface="Georgia"/>
              </a:rPr>
              <a:t>(i) </a:t>
            </a:r>
            <a:r>
              <a:rPr lang="en" sz="1200" b="1" i="1" dirty="0">
                <a:latin typeface="Georgia"/>
                <a:ea typeface="Georgia"/>
                <a:cs typeface="Georgia"/>
                <a:sym typeface="Georgia"/>
              </a:rPr>
              <a:t>socialization</a:t>
            </a:r>
            <a:r>
              <a:rPr lang="en" sz="1200" dirty="0">
                <a:latin typeface="Georgia"/>
                <a:ea typeface="Georgia"/>
                <a:cs typeface="Georgia"/>
                <a:sym typeface="Georgia"/>
              </a:rPr>
              <a:t>: overtime, individuals </a:t>
            </a:r>
            <a:r>
              <a:rPr lang="en" sz="1200" b="1" dirty="0">
                <a:latin typeface="Georgia"/>
                <a:ea typeface="Georgia"/>
                <a:cs typeface="Georgia"/>
                <a:sym typeface="Georgia"/>
              </a:rPr>
              <a:t>normatively adapt</a:t>
            </a:r>
            <a:r>
              <a:rPr lang="en" sz="1200" dirty="0">
                <a:latin typeface="Georgia"/>
                <a:ea typeface="Georgia"/>
                <a:cs typeface="Georgia"/>
                <a:sym typeface="Georgia"/>
              </a:rPr>
              <a:t> to their new social milieus which is reflected in attitudes (</a:t>
            </a:r>
            <a:r>
              <a:rPr lang="en" sz="1200" dirty="0">
                <a:solidFill>
                  <a:schemeClr val="accent1"/>
                </a:solidFill>
                <a:latin typeface="Georgia"/>
                <a:ea typeface="Georgia"/>
                <a:cs typeface="Georgia"/>
                <a:sym typeface="Georgia"/>
              </a:rPr>
              <a:t>Ares, 2020; Helgason &amp; Rehm, 2024; Otero &amp; Mendoza, 2023</a:t>
            </a:r>
            <a:r>
              <a:rPr lang="en" sz="1200" dirty="0">
                <a:latin typeface="Georgia"/>
                <a:ea typeface="Georgia"/>
                <a:cs typeface="Georgia"/>
                <a:sym typeface="Georgia"/>
              </a:rPr>
              <a:t>). Alternatively, could be that </a:t>
            </a:r>
            <a:br>
              <a:rPr lang="en" sz="1200" dirty="0">
                <a:latin typeface="Georgia"/>
                <a:ea typeface="Georgia"/>
                <a:cs typeface="Georgia"/>
                <a:sym typeface="Georgia"/>
              </a:rPr>
            </a:br>
            <a:r>
              <a:rPr lang="en" sz="1200" dirty="0">
                <a:latin typeface="Georgia"/>
                <a:ea typeface="Georgia"/>
                <a:cs typeface="Georgia"/>
                <a:sym typeface="Georgia"/>
              </a:rPr>
              <a:t>(ii) </a:t>
            </a:r>
            <a:r>
              <a:rPr lang="en" sz="1200" b="1" i="1" dirty="0">
                <a:latin typeface="Georgia"/>
                <a:ea typeface="Georgia"/>
                <a:cs typeface="Georgia"/>
                <a:sym typeface="Georgia"/>
              </a:rPr>
              <a:t>information</a:t>
            </a:r>
            <a:r>
              <a:rPr lang="en" sz="1200" b="1" dirty="0">
                <a:latin typeface="Georgia"/>
                <a:ea typeface="Georgia"/>
                <a:cs typeface="Georgia"/>
                <a:sym typeface="Georgia"/>
              </a:rPr>
              <a:t> </a:t>
            </a:r>
            <a:r>
              <a:rPr lang="en" sz="1200" dirty="0">
                <a:latin typeface="Georgia"/>
                <a:ea typeface="Georgia"/>
                <a:cs typeface="Georgia"/>
                <a:sym typeface="Georgia"/>
              </a:rPr>
              <a:t>plays a role itself as </a:t>
            </a:r>
            <a:r>
              <a:rPr lang="en" sz="1200" b="1" dirty="0">
                <a:latin typeface="Georgia"/>
                <a:ea typeface="Georgia"/>
                <a:cs typeface="Georgia"/>
                <a:sym typeface="Georgia"/>
              </a:rPr>
              <a:t>non-redundant environments</a:t>
            </a:r>
            <a:r>
              <a:rPr lang="en" sz="1200" dirty="0">
                <a:latin typeface="Georgia"/>
                <a:ea typeface="Georgia"/>
                <a:cs typeface="Georgia"/>
                <a:sym typeface="Georgia"/>
              </a:rPr>
              <a:t> motivate attitudinal changes in line with the inferential/social learning approach (</a:t>
            </a:r>
            <a:r>
              <a:rPr lang="en" sz="1200" dirty="0">
                <a:solidFill>
                  <a:schemeClr val="accent1"/>
                </a:solidFill>
                <a:latin typeface="Georgia"/>
                <a:ea typeface="Georgia"/>
                <a:cs typeface="Georgia"/>
                <a:sym typeface="Georgia"/>
              </a:rPr>
              <a:t>Druckman &amp; Lupia; Mijs, 2018</a:t>
            </a:r>
            <a:r>
              <a:rPr lang="en" sz="1200" dirty="0">
                <a:latin typeface="Georgia"/>
                <a:ea typeface="Georgia"/>
                <a:cs typeface="Georgia"/>
                <a:sym typeface="Georgia"/>
              </a:rPr>
              <a:t>).</a:t>
            </a:r>
            <a:endParaRPr sz="1200" dirty="0">
              <a:latin typeface="Georgia"/>
              <a:ea typeface="Georgia"/>
              <a:cs typeface="Georgia"/>
              <a:sym typeface="Georgia"/>
            </a:endParaRPr>
          </a:p>
          <a:p>
            <a:pPr marL="0" lvl="0" indent="0" algn="l" rtl="0">
              <a:spcBef>
                <a:spcPts val="1200"/>
              </a:spcBef>
              <a:spcAft>
                <a:spcPts val="0"/>
              </a:spcAft>
              <a:buNone/>
            </a:pPr>
            <a:r>
              <a:rPr lang="en" sz="1200" b="1" dirty="0">
                <a:solidFill>
                  <a:srgbClr val="980000"/>
                </a:solidFill>
                <a:latin typeface="Georgia"/>
                <a:ea typeface="Georgia"/>
                <a:cs typeface="Georgia"/>
                <a:sym typeface="Georgia"/>
              </a:rPr>
              <a:t>Note on individual changes in SES</a:t>
            </a:r>
            <a:endParaRPr sz="1200" b="1" dirty="0">
              <a:solidFill>
                <a:srgbClr val="980000"/>
              </a:solidFill>
              <a:latin typeface="Georgia"/>
              <a:ea typeface="Georgia"/>
              <a:cs typeface="Georgia"/>
              <a:sym typeface="Georgia"/>
            </a:endParaRPr>
          </a:p>
          <a:p>
            <a:pPr marL="457200" lvl="0" indent="-304800" algn="l" rtl="0">
              <a:spcBef>
                <a:spcPts val="1200"/>
              </a:spcBef>
              <a:spcAft>
                <a:spcPts val="0"/>
              </a:spcAft>
              <a:buSzPts val="1200"/>
              <a:buChar char="●"/>
            </a:pPr>
            <a:r>
              <a:rPr lang="en" sz="1200" dirty="0">
                <a:latin typeface="Georgia"/>
                <a:ea typeface="Georgia"/>
                <a:cs typeface="Georgia"/>
                <a:sym typeface="Georgia"/>
              </a:rPr>
              <a:t>Moving </a:t>
            </a:r>
            <a:r>
              <a:rPr lang="en" sz="1200" i="1" dirty="0">
                <a:latin typeface="Georgia"/>
                <a:ea typeface="Georgia"/>
                <a:cs typeface="Georgia"/>
                <a:sym typeface="Georgia"/>
              </a:rPr>
              <a:t>dow</a:t>
            </a:r>
            <a:r>
              <a:rPr lang="en" sz="1200" dirty="0">
                <a:latin typeface="Georgia"/>
                <a:ea typeface="Georgia"/>
                <a:cs typeface="Georgia"/>
                <a:sym typeface="Georgia"/>
              </a:rPr>
              <a:t>n from </a:t>
            </a:r>
            <a:r>
              <a:rPr lang="en" sz="1200" b="1" i="1" dirty="0">
                <a:latin typeface="Georgia"/>
                <a:ea typeface="Georgia"/>
                <a:cs typeface="Georgia"/>
                <a:sym typeface="Georgia"/>
              </a:rPr>
              <a:t>middle to lower </a:t>
            </a:r>
            <a:r>
              <a:rPr lang="en" sz="1200" dirty="0">
                <a:latin typeface="Georgia"/>
                <a:ea typeface="Georgia"/>
                <a:cs typeface="Georgia"/>
                <a:sym typeface="Georgia"/>
              </a:rPr>
              <a:t>status occupation decrease support for market justice –however it does also decreases when people are moving </a:t>
            </a:r>
            <a:r>
              <a:rPr lang="en" sz="1200" i="1" dirty="0">
                <a:latin typeface="Georgia"/>
                <a:ea typeface="Georgia"/>
                <a:cs typeface="Georgia"/>
                <a:sym typeface="Georgia"/>
              </a:rPr>
              <a:t>up</a:t>
            </a:r>
            <a:r>
              <a:rPr lang="en" sz="1200" dirty="0">
                <a:latin typeface="Georgia"/>
                <a:ea typeface="Georgia"/>
                <a:cs typeface="Georgia"/>
                <a:sym typeface="Georgia"/>
              </a:rPr>
              <a:t> from </a:t>
            </a:r>
            <a:r>
              <a:rPr lang="en" sz="1200" b="1" i="1" dirty="0">
                <a:latin typeface="Georgia"/>
                <a:ea typeface="Georgia"/>
                <a:cs typeface="Georgia"/>
                <a:sym typeface="Georgia"/>
              </a:rPr>
              <a:t>middle to higher</a:t>
            </a:r>
            <a:r>
              <a:rPr lang="en" sz="1200" dirty="0">
                <a:latin typeface="Georgia"/>
                <a:ea typeface="Georgia"/>
                <a:cs typeface="Georgia"/>
                <a:sym typeface="Georgia"/>
              </a:rPr>
              <a:t> status occupation.</a:t>
            </a:r>
          </a:p>
          <a:p>
            <a:pPr marL="457200" lvl="0" indent="-304800" algn="l" rtl="0">
              <a:spcBef>
                <a:spcPts val="1200"/>
              </a:spcBef>
              <a:spcAft>
                <a:spcPts val="0"/>
              </a:spcAft>
              <a:buSzPts val="1200"/>
              <a:buChar char="●"/>
            </a:pPr>
            <a:endParaRPr sz="1200" dirty="0">
              <a:latin typeface="Georgia"/>
              <a:ea typeface="Georgia"/>
              <a:cs typeface="Georgia"/>
              <a:sym typeface="Georgia"/>
            </a:endParaRPr>
          </a:p>
        </p:txBody>
      </p:sp>
      <p:sp>
        <p:nvSpPr>
          <p:cNvPr id="179" name="Google Shape;179;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Thank you</a:t>
            </a:r>
            <a:endParaRPr/>
          </a:p>
        </p:txBody>
      </p:sp>
      <p:sp>
        <p:nvSpPr>
          <p:cNvPr id="185" name="Google Shape;185;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jiturra@bigsss.uni-bremen.de</a:t>
            </a:r>
            <a:endParaRPr/>
          </a:p>
        </p:txBody>
      </p:sp>
      <p:sp>
        <p:nvSpPr>
          <p:cNvPr id="186" name="Google Shape;186;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BC8823-0565-D999-5252-104549456F98}"/>
              </a:ext>
            </a:extLst>
          </p:cNvPr>
          <p:cNvSpPr>
            <a:spLocks noGrp="1"/>
          </p:cNvSpPr>
          <p:nvPr>
            <p:ph type="title"/>
          </p:nvPr>
        </p:nvSpPr>
        <p:spPr/>
        <p:txBody>
          <a:bodyPr>
            <a:normAutofit fontScale="90000"/>
          </a:bodyPr>
          <a:lstStyle/>
          <a:p>
            <a:r>
              <a:rPr lang="es-CL" dirty="0" err="1"/>
              <a:t>Supplementary</a:t>
            </a:r>
            <a:r>
              <a:rPr lang="es-CL" dirty="0"/>
              <a:t> material</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A05DE3B9-B486-3D44-9FF9-746EBB9064CB}"/>
                  </a:ext>
                </a:extLst>
              </p:cNvPr>
              <p:cNvSpPr>
                <a:spLocks noGrp="1"/>
              </p:cNvSpPr>
              <p:nvPr>
                <p:ph type="body" idx="1"/>
              </p:nvPr>
            </p:nvSpPr>
            <p:spPr/>
            <p:txBody>
              <a:bodyPr/>
              <a:lstStyle/>
              <a:p>
                <a:r>
                  <a:rPr lang="en-US" dirty="0">
                    <a:latin typeface="Georgia" panose="02040502050405020303" pitchFamily="18" charset="0"/>
                  </a:rPr>
                  <a:t>The formula is depicted as:</a:t>
                </a:r>
                <a:br>
                  <a:rPr lang="en-US" dirty="0">
                    <a:latin typeface="Georgia" panose="02040502050405020303" pitchFamily="18" charset="0"/>
                  </a:rPr>
                </a:br>
                <a14:m>
                  <m:oMath xmlns:m="http://schemas.openxmlformats.org/officeDocument/2006/math">
                    <m:r>
                      <a:rPr lang="en-US" i="1">
                        <a:latin typeface="Cambria Math" panose="02040503050406030204" pitchFamily="18" charset="0"/>
                      </a:rPr>
                      <m:t>𝐻</m:t>
                    </m:r>
                    <m:r>
                      <a:rPr lang="en-US" i="1">
                        <a:latin typeface="Cambria Math" panose="02040503050406030204" pitchFamily="18" charset="0"/>
                      </a:rPr>
                      <m:t>= −</m:t>
                    </m:r>
                    <m:nary>
                      <m:naryPr>
                        <m:chr m:val="∑"/>
                        <m:limLoc m:val="subSup"/>
                        <m:ctrlPr>
                          <a:rPr lang="es-CL"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13</m:t>
                        </m:r>
                      </m:sup>
                      <m:e>
                        <m:sSub>
                          <m:sSubPr>
                            <m:ctrlPr>
                              <a:rPr lang="es-CL"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𝑗</m:t>
                            </m:r>
                          </m:sub>
                        </m:sSub>
                        <m:func>
                          <m:funcPr>
                            <m:ctrlPr>
                              <a:rPr lang="es-CL"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m:t>
                            </m:r>
                            <m:sSub>
                              <m:sSubPr>
                                <m:ctrlPr>
                                  <a:rPr lang="es-CL"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𝑗</m:t>
                                </m:r>
                              </m:sub>
                            </m:sSub>
                            <m:r>
                              <a:rPr lang="en-US" i="1">
                                <a:latin typeface="Cambria Math" panose="02040503050406030204" pitchFamily="18" charset="0"/>
                              </a:rPr>
                              <m:t>)</m:t>
                            </m:r>
                          </m:e>
                        </m:func>
                      </m:e>
                    </m:nary>
                  </m:oMath>
                </a14:m>
                <a:r>
                  <a:rPr lang="en-US" dirty="0">
                    <a:latin typeface="Georgia" panose="02040502050405020303" pitchFamily="18" charset="0"/>
                  </a:rPr>
                  <a:t>, where </a:t>
                </a:r>
                <a:r>
                  <a:rPr lang="en-US" dirty="0" err="1">
                    <a:latin typeface="Georgia" panose="02040502050405020303" pitchFamily="18" charset="0"/>
                  </a:rPr>
                  <a:t>p</a:t>
                </a:r>
                <a:r>
                  <a:rPr lang="en-US" baseline="-25000" dirty="0" err="1">
                    <a:latin typeface="Georgia" panose="02040502050405020303" pitchFamily="18" charset="0"/>
                  </a:rPr>
                  <a:t>j</a:t>
                </a:r>
                <a:r>
                  <a:rPr lang="en-US" dirty="0">
                    <a:latin typeface="Georgia" panose="02040502050405020303" pitchFamily="18" charset="0"/>
                  </a:rPr>
                  <a:t>​ is the </a:t>
                </a:r>
                <a:r>
                  <a:rPr lang="en-US" b="1" dirty="0">
                    <a:latin typeface="Georgia" panose="02040502050405020303" pitchFamily="18" charset="0"/>
                  </a:rPr>
                  <a:t>proportion</a:t>
                </a:r>
                <a:r>
                  <a:rPr lang="en-US" dirty="0">
                    <a:latin typeface="Georgia" panose="02040502050405020303" pitchFamily="18" charset="0"/>
                  </a:rPr>
                  <a:t> of ties in category </a:t>
                </a:r>
                <a:r>
                  <a:rPr lang="en-US" i="1" dirty="0">
                    <a:latin typeface="Georgia" panose="02040502050405020303" pitchFamily="18" charset="0"/>
                  </a:rPr>
                  <a:t>j </a:t>
                </a:r>
                <a:r>
                  <a:rPr lang="en-US" dirty="0">
                    <a:latin typeface="Georgia" panose="02040502050405020303" pitchFamily="18" charset="0"/>
                  </a:rPr>
                  <a:t>(e.g., the proportion of social ties that belong to occupation </a:t>
                </a:r>
                <a:r>
                  <a:rPr lang="en-US" i="1" dirty="0">
                    <a:latin typeface="Georgia" panose="02040502050405020303" pitchFamily="18" charset="0"/>
                  </a:rPr>
                  <a:t>j</a:t>
                </a:r>
                <a:r>
                  <a:rPr lang="en-US" dirty="0">
                    <a:latin typeface="Georgia" panose="02040502050405020303" pitchFamily="18" charset="0"/>
                  </a:rPr>
                  <a:t>). This excludes observations with no network ties (which represent around 3% of the total sample).</a:t>
                </a:r>
              </a:p>
              <a:p>
                <a:endParaRPr lang="en-US" dirty="0"/>
              </a:p>
              <a:p>
                <a:endParaRPr lang="es-CL" dirty="0"/>
              </a:p>
            </p:txBody>
          </p:sp>
        </mc:Choice>
        <mc:Fallback xmlns="">
          <p:sp>
            <p:nvSpPr>
              <p:cNvPr id="5" name="Text Placeholder 4">
                <a:extLst>
                  <a:ext uri="{FF2B5EF4-FFF2-40B4-BE49-F238E27FC236}">
                    <a16:creationId xmlns:a16="http://schemas.microsoft.com/office/drawing/2014/main" id="{A05DE3B9-B486-3D44-9FF9-746EBB9064CB}"/>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s-CL">
                    <a:noFill/>
                  </a:rPr>
                  <a:t> </a:t>
                </a:r>
              </a:p>
            </p:txBody>
          </p:sp>
        </mc:Fallback>
      </mc:AlternateContent>
      <p:sp>
        <p:nvSpPr>
          <p:cNvPr id="8" name="Text Placeholder 7">
            <a:extLst>
              <a:ext uri="{FF2B5EF4-FFF2-40B4-BE49-F238E27FC236}">
                <a16:creationId xmlns:a16="http://schemas.microsoft.com/office/drawing/2014/main" id="{21692838-7D94-761F-91EB-3BBB594BBF8F}"/>
              </a:ext>
            </a:extLst>
          </p:cNvPr>
          <p:cNvSpPr>
            <a:spLocks noGrp="1"/>
          </p:cNvSpPr>
          <p:nvPr>
            <p:ph type="body" idx="2"/>
          </p:nvPr>
        </p:nvSpPr>
        <p:spPr/>
        <p:txBody>
          <a:bodyPr/>
          <a:lstStyle/>
          <a:p>
            <a:endParaRPr lang="es-CL"/>
          </a:p>
        </p:txBody>
      </p:sp>
      <p:sp>
        <p:nvSpPr>
          <p:cNvPr id="3" name="Slide Number Placeholder 2">
            <a:extLst>
              <a:ext uri="{FF2B5EF4-FFF2-40B4-BE49-F238E27FC236}">
                <a16:creationId xmlns:a16="http://schemas.microsoft.com/office/drawing/2014/main" id="{088246C4-276F-FF42-DB76-7F935BDBF1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pic>
        <p:nvPicPr>
          <p:cNvPr id="7" name="Picture 6">
            <a:extLst>
              <a:ext uri="{FF2B5EF4-FFF2-40B4-BE49-F238E27FC236}">
                <a16:creationId xmlns:a16="http://schemas.microsoft.com/office/drawing/2014/main" id="{E79BEB8A-98FD-8835-BD85-736A363E1BF8}"/>
              </a:ext>
            </a:extLst>
          </p:cNvPr>
          <p:cNvPicPr>
            <a:picLocks noChangeAspect="1"/>
          </p:cNvPicPr>
          <p:nvPr/>
        </p:nvPicPr>
        <p:blipFill>
          <a:blip r:embed="rId3"/>
          <a:stretch>
            <a:fillRect/>
          </a:stretch>
        </p:blipFill>
        <p:spPr>
          <a:xfrm>
            <a:off x="4757894" y="1274879"/>
            <a:ext cx="4249668" cy="2838550"/>
          </a:xfrm>
          <a:prstGeom prst="rect">
            <a:avLst/>
          </a:prstGeom>
        </p:spPr>
      </p:pic>
    </p:spTree>
    <p:extLst>
      <p:ext uri="{BB962C8B-B14F-4D97-AF65-F5344CB8AC3E}">
        <p14:creationId xmlns:p14="http://schemas.microsoft.com/office/powerpoint/2010/main" val="3361805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TotalTime>
  <Words>2181</Words>
  <Application>Microsoft Office PowerPoint</Application>
  <PresentationFormat>On-screen Show (16:9)</PresentationFormat>
  <Paragraphs>139</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Cambria Math</vt:lpstr>
      <vt:lpstr>Georgia</vt:lpstr>
      <vt:lpstr>Times New Roman</vt:lpstr>
      <vt:lpstr>Simple Light</vt:lpstr>
      <vt:lpstr>More Diverse, More Skeptical? How Changes in Class-based Network Diversity Shape Public Support for Commodified Welfare Services: Longitudinal Evidence from Chile  </vt:lpstr>
      <vt:lpstr>Social networks and political attitudes </vt:lpstr>
      <vt:lpstr>Attitudes toward market distributions </vt:lpstr>
      <vt:lpstr>This study: changing networks, changing attitudes?</vt:lpstr>
      <vt:lpstr>Chile: unequal but prosperous </vt:lpstr>
      <vt:lpstr>PowerPoint Presentation</vt:lpstr>
      <vt:lpstr>To what extent do individual changes in socioeconomic network diversity influence changes in market justice preferences?</vt:lpstr>
      <vt:lpstr>Data, variable and method</vt:lpstr>
      <vt:lpstr>Market justice preferences</vt:lpstr>
      <vt:lpstr>II. Social networks: position generator</vt:lpstr>
      <vt:lpstr>III. Network diversity index</vt:lpstr>
      <vt:lpstr>Results</vt:lpstr>
      <vt:lpstr>Longitudinal results on network diversity and market justice </vt:lpstr>
      <vt:lpstr>Changes on network diversity </vt:lpstr>
      <vt:lpstr>Conclusions</vt:lpstr>
      <vt:lpstr>Thank you</vt:lpstr>
      <vt:lpstr>Supplementary material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Julio César Iturra Sanhueza</cp:lastModifiedBy>
  <cp:revision>26</cp:revision>
  <dcterms:modified xsi:type="dcterms:W3CDTF">2025-12-04T02:17:55Z</dcterms:modified>
</cp:coreProperties>
</file>